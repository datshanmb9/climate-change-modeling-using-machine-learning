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3"/>
  </p:notesMasterIdLst>
  <p:sldIdLst>
    <p:sldId id="475" r:id="rId2"/>
    <p:sldId id="257" r:id="rId3"/>
    <p:sldId id="269" r:id="rId4"/>
    <p:sldId id="479" r:id="rId5"/>
    <p:sldId id="480" r:id="rId6"/>
    <p:sldId id="478" r:id="rId7"/>
    <p:sldId id="476" r:id="rId8"/>
    <p:sldId id="268" r:id="rId9"/>
    <p:sldId id="270" r:id="rId10"/>
    <p:sldId id="265" r:id="rId11"/>
    <p:sldId id="481" r:id="rId18"/>
    <p:sldId id="266" r:id="rId12"/>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7" autoAdjust="0"/>
    <p:restoredTop sz="94434" autoAdjust="0"/>
  </p:normalViewPr>
  <p:slideViewPr>
    <p:cSldViewPr snapToGrid="0">
      <p:cViewPr varScale="1">
        <p:scale>
          <a:sx n="60" d="100"/>
          <a:sy n="60" d="100"/>
        </p:scale>
        <p:origin x="1024" y="44"/>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9/1/2026</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02D6882-F487-2BBE-6EE7-E6E2A877910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D233CCE-6DC1-DF39-7D4B-A750048383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1C56AB1-8891-0ED9-FDF2-23495F7D0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154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235C88D-C7FC-8FBD-E724-18C9894A21F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2691D9E-4DBC-C04A-11B4-E84B361A10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AD666AE-999F-7381-3C0C-EFC56DD91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4008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9/1/2026</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9/1/2026</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9/1/2026</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9/1/2026</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9/1/2026</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9/1/2026</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9/1/2026</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9/1/2026</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9/1/2026</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9/1/2026</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9/1/2026</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9/1/2026</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515600" cy="1560060"/>
          </a:xfrm>
        </p:spPr>
        <p:txBody>
          <a:bodyPr/>
          <a:lstStyle/>
          <a:p>
            <a:pPr algn="ctr">
              <a:defRPr sz="2200" b="1">
                <a:solidFill>
                  <a:srgbClr val="DC2626"/>
                </a:solidFill>
                <a:latin typeface="Calibri"/>
              </a:defRPr>
            </a:pPr>
            <a:r>
              <a:t>MCA Mini Project (Review I)</a:t>
            </a:r>
            <a:endParaRPr lang="en-US" sz="2400" dirty="0">
              <a:latin typeface="Times New Roman" panose="02020603050405020304" pitchFamily="18" charset="0"/>
              <a:cs typeface="Times New Roman" panose="02020603050405020304" pitchFamily="18" charset="0"/>
            </a:endParaRPr>
          </a:p>
          <a:p>
            <a:pPr algn="ctr">
              <a:defRPr sz="2000" b="1">
                <a:solidFill>
                  <a:srgbClr val="0284C7"/>
                </a:solidFill>
                <a:latin typeface="Calibri"/>
              </a:defRPr>
            </a:pPr>
            <a:r>
              <a:t>EcoAir-Forecast: Machine Learning-Based Climate and Air Quality Index (AQI) Forecasting System</a:t>
            </a:r>
          </a:p>
        </p:txBody>
      </p:sp>
      <p:sp>
        <p:nvSpPr>
          <p:cNvPr id="3" name="Content Placeholder 2"/>
          <p:cNvSpPr>
            <a:spLocks noGrp="1"/>
          </p:cNvSpPr>
          <p:nvPr>
            <p:ph idx="1"/>
          </p:nvPr>
        </p:nvSpPr>
        <p:spPr>
          <a:xfrm>
            <a:off x="933893" y="1296773"/>
            <a:ext cx="10515600" cy="4661672"/>
          </a:xfrm>
        </p:spPr>
        <p:txBody>
          <a:bodyPr/>
          <a:lstStyle/>
          <a:p>
            <a:pPr marL="0" indent="0" algn="ctr">
              <a:buNone/>
              <a:defRPr sz="1200">
                <a:solidFill>
                  <a:srgbClr val="334155"/>
                </a:solidFill>
                <a:latin typeface="Calibri"/>
              </a:defRPr>
            </a:pPr>
            <a:r>
              <a:t>Submitted to Presidency University, Bengaluru in partial fulfillment for the award of the degree of Master of Computer Applications (MCA)</a:t>
            </a:r>
          </a:p>
          <a:p>
            <a:pPr algn="ctr">
              <a:defRPr sz="1300" b="1">
                <a:solidFill>
                  <a:srgbClr val="1C2541"/>
                </a:solidFill>
                <a:latin typeface="Calibri"/>
              </a:defRPr>
            </a:pPr>
            <a:r>
              <a:t>Course Code: CSA8100  |  Section: 06  |  Project ID: CSA8100-MCA-P06</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a:t>
            </a:fld>
            <a:endParaRPr lang="en-US" altLang="en-US"/>
          </a:p>
        </p:txBody>
      </p:sp>
      <p:graphicFrame>
        <p:nvGraphicFramePr>
          <p:cNvPr id="5" name="Table 4"/>
          <p:cNvGraphicFramePr>
            <a:graphicFrameLocks noGrp="1"/>
          </p:cNvGraphicFramePr>
          <p:nvPr/>
        </p:nvGraphicFramePr>
        <p:xfrm>
          <a:off x="3108960" y="2240280"/>
          <a:ext cx="5943600" cy="1417320"/>
        </p:xfrm>
        <a:graphic>
          <a:graphicData uri="http://schemas.openxmlformats.org/drawingml/2006/table">
            <a:tbl>
              <a:tblPr firstRow="1" bandRow="1">
                <a:tableStyleId>{5C22544A-7EE6-4342-B048-85BDC9FD1C3A}</a:tableStyleId>
              </a:tblPr>
              <a:tblGrid>
                <a:gridCol w="3566160"/>
                <a:gridCol w="2377440"/>
              </a:tblGrid>
              <a:tr h="354330">
                <a:tc>
                  <a:txBody>
                    <a:bodyPr/>
                    <a:lstStyle/>
                    <a:p>
                      <a:pPr algn="ctr"/>
                      <a:r>
                        <a:rPr sz="1200" b="1">
                          <a:solidFill>
                            <a:srgbClr val="FFFFFF"/>
                          </a:solidFill>
                          <a:latin typeface="Calibri"/>
                        </a:rPr>
                        <a:t>Name</a:t>
                      </a:r>
                    </a:p>
                  </a:txBody>
                  <a:tcPr anchor="ctr">
                    <a:solidFill>
                      <a:srgbClr val="0284C7"/>
                    </a:solidFill>
                  </a:tcPr>
                </a:tc>
                <a:tc>
                  <a:txBody>
                    <a:bodyPr/>
                    <a:lstStyle/>
                    <a:p>
                      <a:pPr algn="ctr"/>
                      <a:r>
                        <a:rPr sz="1200" b="1">
                          <a:solidFill>
                            <a:srgbClr val="FFFFFF"/>
                          </a:solidFill>
                          <a:latin typeface="Calibri"/>
                        </a:rPr>
                        <a:t>Roll / Reg Number</a:t>
                      </a:r>
                    </a:p>
                  </a:txBody>
                  <a:tcPr anchor="ctr">
                    <a:solidFill>
                      <a:srgbClr val="0284C7"/>
                    </a:solidFill>
                  </a:tcPr>
                </a:tc>
              </a:tr>
              <a:tr h="354330">
                <a:tc>
                  <a:txBody>
                    <a:bodyPr/>
                    <a:lstStyle/>
                    <a:p>
                      <a:pPr algn="ctr"/>
                      <a:r>
                        <a:rPr sz="1100" b="1">
                          <a:solidFill>
                            <a:srgbClr val="1C2541"/>
                          </a:solidFill>
                          <a:latin typeface="Calibri"/>
                        </a:rPr>
                        <a:t>DARSHAN MARUTI BONGALE</a:t>
                      </a:r>
                    </a:p>
                  </a:txBody>
                  <a:tcPr anchor="ctr">
                    <a:solidFill>
                      <a:srgbClr val="F1F5F9"/>
                    </a:solidFill>
                  </a:tcPr>
                </a:tc>
                <a:tc>
                  <a:txBody>
                    <a:bodyPr/>
                    <a:lstStyle/>
                    <a:p>
                      <a:pPr algn="ctr"/>
                      <a:r>
                        <a:rPr sz="1100" b="1">
                          <a:solidFill>
                            <a:srgbClr val="1C2541"/>
                          </a:solidFill>
                          <a:latin typeface="Calibri"/>
                        </a:rPr>
                        <a:t>20252MCA0277</a:t>
                      </a:r>
                    </a:p>
                  </a:txBody>
                  <a:tcPr anchor="ctr">
                    <a:solidFill>
                      <a:srgbClr val="F1F5F9"/>
                    </a:solidFill>
                  </a:tcPr>
                </a:tc>
              </a:tr>
              <a:tr h="354330">
                <a:tc>
                  <a:txBody>
                    <a:bodyPr/>
                    <a:lstStyle/>
                    <a:p>
                      <a:pPr algn="ctr"/>
                      <a:r>
                        <a:rPr sz="1100" b="1">
                          <a:solidFill>
                            <a:srgbClr val="1C2541"/>
                          </a:solidFill>
                          <a:latin typeface="Calibri"/>
                        </a:rPr>
                        <a:t>SUMAN HR</a:t>
                      </a:r>
                    </a:p>
                  </a:txBody>
                  <a:tcPr anchor="ctr">
                    <a:solidFill>
                      <a:srgbClr val="FFFFFF"/>
                    </a:solidFill>
                  </a:tcPr>
                </a:tc>
                <a:tc>
                  <a:txBody>
                    <a:bodyPr/>
                    <a:lstStyle/>
                    <a:p>
                      <a:pPr algn="ctr"/>
                      <a:r>
                        <a:rPr sz="1100" b="1">
                          <a:solidFill>
                            <a:srgbClr val="1C2541"/>
                          </a:solidFill>
                          <a:latin typeface="Calibri"/>
                        </a:rPr>
                        <a:t>20252MCA0302</a:t>
                      </a:r>
                    </a:p>
                  </a:txBody>
                  <a:tcPr anchor="ctr">
                    <a:solidFill>
                      <a:srgbClr val="FFFFFF"/>
                    </a:solidFill>
                  </a:tcPr>
                </a:tc>
              </a:tr>
              <a:tr h="354330">
                <a:tc>
                  <a:txBody>
                    <a:bodyPr/>
                    <a:lstStyle/>
                    <a:p>
                      <a:pPr algn="ctr"/>
                      <a:r>
                        <a:rPr sz="1100" b="1">
                          <a:solidFill>
                            <a:srgbClr val="1C2541"/>
                          </a:solidFill>
                          <a:latin typeface="Calibri"/>
                        </a:rPr>
                        <a:t>P PRADEEP KUMAR</a:t>
                      </a:r>
                    </a:p>
                  </a:txBody>
                  <a:tcPr anchor="ctr">
                    <a:solidFill>
                      <a:srgbClr val="F1F5F9"/>
                    </a:solidFill>
                  </a:tcPr>
                </a:tc>
                <a:tc>
                  <a:txBody>
                    <a:bodyPr/>
                    <a:lstStyle/>
                    <a:p>
                      <a:pPr algn="ctr"/>
                      <a:r>
                        <a:rPr sz="1100" b="1">
                          <a:solidFill>
                            <a:srgbClr val="1C2541"/>
                          </a:solidFill>
                          <a:latin typeface="Calibri"/>
                        </a:rPr>
                        <a:t>20252MCA0316</a:t>
                      </a:r>
                    </a:p>
                  </a:txBody>
                  <a:tcPr anchor="ctr">
                    <a:solidFill>
                      <a:srgbClr val="F1F5F9"/>
                    </a:solidFill>
                  </a:tcPr>
                </a:tc>
              </a:tr>
            </a:tbl>
          </a:graphicData>
        </a:graphic>
      </p:graphicFrame>
      <p:sp>
        <p:nvSpPr>
          <p:cNvPr id="6" name="TextBox 5"/>
          <p:cNvSpPr txBox="1"/>
          <p:nvPr/>
        </p:nvSpPr>
        <p:spPr>
          <a:xfrm>
            <a:off x="2286000" y="3977639"/>
            <a:ext cx="7589520" cy="1463040"/>
          </a:xfrm>
          <a:prstGeom prst="rect">
            <a:avLst/>
          </a:prstGeom>
          <a:noFill/>
        </p:spPr>
        <p:txBody>
          <a:bodyPr wrap="square">
            <a:spAutoFit/>
          </a:bodyPr>
          <a:lstStyle/>
          <a:p>
            <a:pPr algn="ctr">
              <a:defRPr sz="1200" i="1">
                <a:solidFill>
                  <a:srgbClr val="64748B"/>
                </a:solidFill>
                <a:latin typeface="Calibri"/>
              </a:defRPr>
            </a:pPr>
            <a:r>
              <a:t>Under the supervision of</a:t>
            </a:r>
          </a:p>
          <a:p>
            <a:pPr algn="ctr">
              <a:defRPr sz="1600" b="1">
                <a:solidFill>
                  <a:srgbClr val="DC2626"/>
                </a:solidFill>
                <a:latin typeface="Calibri"/>
              </a:defRPr>
            </a:pPr>
            <a:r>
              <a:t>Dr. / Prof. [Supervisor Name]</a:t>
            </a:r>
          </a:p>
          <a:p>
            <a:pPr algn="ctr">
              <a:defRPr sz="1150">
                <a:solidFill>
                  <a:srgbClr val="1C2541"/>
                </a:solidFill>
                <a:latin typeface="Calibri"/>
              </a:defRPr>
            </a:pPr>
            <a:r>
              <a:t>Designation, Department of Computer Science &amp; Applications</a:t>
            </a:r>
          </a:p>
          <a:p>
            <a:pPr algn="ctr">
              <a:defRPr sz="1100">
                <a:solidFill>
                  <a:srgbClr val="334155"/>
                </a:solidFill>
                <a:latin typeface="Calibri"/>
              </a:defRPr>
            </a:pPr>
            <a:r>
              <a:t>School of Information Science | Presidency University, Bengaluru</a:t>
            </a:r>
          </a:p>
        </p:txBody>
      </p:sp>
    </p:spTree>
    <p:extLst>
      <p:ext uri="{BB962C8B-B14F-4D97-AF65-F5344CB8AC3E}">
        <p14:creationId xmlns:p14="http://schemas.microsoft.com/office/powerpoint/2010/main" val="947468273"/>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Wingdings" panose="05000000000000000000" pitchFamily="2" charset="2"/>
              <a:buChar char="Ø"/>
              <a:defRPr sz="1400" b="1">
                <a:solidFill>
                  <a:srgbClr val="1C2541"/>
                </a:solidFill>
                <a:latin typeface="Calibri"/>
              </a:defRPr>
            </a:pPr>
            <a:r>
              <a:t>  Problem Statement &amp; Research Motivation</a:t>
            </a:r>
          </a:p>
          <a:p>
            <a:pPr>
              <a:spcAft>
                <a:spcPts val="600"/>
              </a:spcAft>
              <a:defRPr sz="1100">
                <a:solidFill>
                  <a:srgbClr val="334155"/>
                </a:solidFill>
                <a:latin typeface="Calibri"/>
              </a:defRPr>
            </a:pPr>
            <a:r>
              <a:t>     • Acute pollution hazards, respiratory crisis, and existing monitoring gaps.</a:t>
            </a:r>
          </a:p>
          <a:p>
            <a:pPr>
              <a:defRPr sz="1400" b="1">
                <a:solidFill>
                  <a:srgbClr val="1C2541"/>
                </a:solidFill>
                <a:latin typeface="Calibri"/>
              </a:defRPr>
            </a:pPr>
            <a:r>
              <a:t>  Literature Survey (10 Key Research Papers)</a:t>
            </a:r>
          </a:p>
          <a:p>
            <a:pPr>
              <a:spcAft>
                <a:spcPts val="600"/>
              </a:spcAft>
              <a:defRPr sz="1100">
                <a:solidFill>
                  <a:srgbClr val="334155"/>
                </a:solidFill>
                <a:latin typeface="Calibri"/>
              </a:defRPr>
            </a:pPr>
            <a:r>
              <a:t>     • Review of state-of-the-art IEEE, Elsevier, and Springer literature.</a:t>
            </a:r>
          </a:p>
          <a:p>
            <a:pPr>
              <a:defRPr sz="1400" b="1">
                <a:solidFill>
                  <a:srgbClr val="1C2541"/>
                </a:solidFill>
                <a:latin typeface="Calibri"/>
              </a:defRPr>
            </a:pPr>
            <a:r>
              <a:t>  Module Design &amp; System Architecture</a:t>
            </a:r>
          </a:p>
          <a:p>
            <a:pPr>
              <a:spcAft>
                <a:spcPts val="600"/>
              </a:spcAft>
              <a:defRPr sz="1100">
                <a:solidFill>
                  <a:srgbClr val="334155"/>
                </a:solidFill>
                <a:latin typeface="Calibri"/>
              </a:defRPr>
            </a:pPr>
            <a:r>
              <a:t>     • Modular breakdown and end-to-end data pipeline flowchart.</a:t>
            </a:r>
          </a:p>
          <a:p>
            <a:pPr>
              <a:defRPr sz="1400" b="1">
                <a:solidFill>
                  <a:srgbClr val="1C2541"/>
                </a:solidFill>
                <a:latin typeface="Calibri"/>
              </a:defRPr>
            </a:pPr>
            <a:r>
              <a:t>  Tools and Technologies to be Used</a:t>
            </a:r>
          </a:p>
          <a:p>
            <a:pPr>
              <a:spcAft>
                <a:spcPts val="600"/>
              </a:spcAft>
              <a:defRPr sz="1100">
                <a:solidFill>
                  <a:srgbClr val="334155"/>
                </a:solidFill>
                <a:latin typeface="Calibri"/>
              </a:defRPr>
            </a:pPr>
            <a:r>
              <a:t>     • Full-stack ML &amp; web framework stack (Python, Flask, Scikit-Learn, SQLite).</a:t>
            </a:r>
          </a:p>
          <a:p>
            <a:pPr>
              <a:defRPr sz="1400" b="1">
                <a:solidFill>
                  <a:srgbClr val="1C2541"/>
                </a:solidFill>
                <a:latin typeface="Calibri"/>
              </a:defRPr>
            </a:pPr>
            <a:r>
              <a:t>  GitHub Repository Link &amp; Project Structure</a:t>
            </a:r>
          </a:p>
          <a:p>
            <a:pPr>
              <a:spcAft>
                <a:spcPts val="600"/>
              </a:spcAft>
              <a:defRPr sz="1100">
                <a:solidFill>
                  <a:srgbClr val="334155"/>
                </a:solidFill>
                <a:latin typeface="Calibri"/>
              </a:defRPr>
            </a:pPr>
            <a:r>
              <a:t>     • Public version-controlled repository, test suite, and directory hierarchy.</a:t>
            </a:r>
          </a:p>
          <a:p>
            <a:pPr>
              <a:defRPr sz="1400" b="1">
                <a:solidFill>
                  <a:srgbClr val="1C2541"/>
                </a:solidFill>
                <a:latin typeface="Calibri"/>
              </a:defRPr>
            </a:pPr>
            <a:r>
              <a:t>  Timeline of the Project (Gantt Chart)</a:t>
            </a:r>
          </a:p>
          <a:p>
            <a:pPr>
              <a:spcAft>
                <a:spcPts val="600"/>
              </a:spcAft>
              <a:defRPr sz="1100">
                <a:solidFill>
                  <a:srgbClr val="334155"/>
                </a:solidFill>
                <a:latin typeface="Calibri"/>
              </a:defRPr>
            </a:pPr>
            <a:r>
              <a:t>     • Project phases aligned with official Presidency University Review schedule.</a:t>
            </a:r>
          </a:p>
          <a:p>
            <a:pPr>
              <a:defRPr sz="1400" b="1">
                <a:solidFill>
                  <a:srgbClr val="1C2541"/>
                </a:solidFill>
                <a:latin typeface="Calibri"/>
              </a:defRPr>
            </a:pPr>
            <a:r>
              <a:t>  References (IEEE Paper Format)</a:t>
            </a:r>
          </a:p>
          <a:p>
            <a:pPr>
              <a:spcAft>
                <a:spcPts val="600"/>
              </a:spcAft>
              <a:defRPr sz="1100">
                <a:solidFill>
                  <a:srgbClr val="334155"/>
                </a:solidFill>
                <a:latin typeface="Calibri"/>
              </a:defRPr>
            </a:pPr>
            <a:r>
              <a:t>     • Standard IEEE academic citations of referenced scientific literature.</a:t>
            </a:r>
          </a:p>
        </p:txBody>
      </p:sp>
    </p:spTree>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00317CE0-94D4-BCB9-D348-4A6AC6EDE798}"/>
              </a:ext>
            </a:extLst>
          </p:cNvPr>
          <p:cNvSpPr>
            <a:spLocks noGrp="1" noChangeArrowheads="1"/>
          </p:cNvSpPr>
          <p:nvPr>
            <p:ph type="body" idx="1"/>
          </p:nvPr>
        </p:nvSpPr>
        <p:spPr bwMode="auto">
          <a:xfrm>
            <a:off x="1131777" y="868798"/>
            <a:ext cx="1014936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42925" marR="0" lvl="0" indent="-542925" algn="just" defTabSz="914400" rtl="0" eaLnBrk="0" fontAlgn="base" latinLnBrk="0" hangingPunct="0">
              <a:lnSpc>
                <a:spcPct val="100000"/>
              </a:lnSpc>
              <a:spcBef>
                <a:spcPct val="0"/>
              </a:spcBef>
              <a:spcAft>
                <a:spcPts val="200"/>
              </a:spcAft>
              <a:buClrTx/>
              <a:buSzTx/>
              <a:buFont typeface="Wingdings" panose="05000000000000000000" pitchFamily="2" charset="2"/>
              <a:buChar char="Ø"/>
              <a:tabLst/>
              <a:defRPr b="1" sz="1300">
                <a:solidFill>
                  <a:srgbClr val="0284C7"/>
                </a:solidFill>
                <a:latin typeface="Calibri"/>
              </a:defRPr>
            </a:pPr>
            <a:r>
              <a:t>  1. Clearly Defined Problem Aimed to Address:</a:t>
            </a:r>
          </a:p>
          <a:p>
            <a:pPr>
              <a:spcAft>
                <a:spcPts val="800"/>
              </a:spcAft>
              <a:defRPr sz="1100">
                <a:solidFill>
                  <a:srgbClr val="334155"/>
                </a:solidFill>
                <a:latin typeface="Calibri"/>
              </a:defRPr>
            </a:pPr>
            <a:r>
              <a:t>    Rapid urbanization and climate change have escalated dangerous airborne pollutants (PM2.5, PM10, CO, NO₂, SO₂, O₃), triggering chronic respiratory illnesses, acute asthma episodes, COPD, and cardiovascular complications in vulnerable populations.</a:t>
            </a:r>
          </a:p>
          <a:p>
            <a:pPr>
              <a:spcAft>
                <a:spcPts val="200"/>
              </a:spcAft>
              <a:defRPr b="1" sz="1300">
                <a:solidFill>
                  <a:srgbClr val="0284C7"/>
                </a:solidFill>
                <a:latin typeface="Calibri"/>
              </a:defRPr>
            </a:pPr>
            <a:r>
              <a:t>  2. Relevance &amp; Real-World Significance:</a:t>
            </a:r>
          </a:p>
          <a:p>
            <a:pPr>
              <a:spcAft>
                <a:spcPts val="800"/>
              </a:spcAft>
              <a:defRPr sz="1100">
                <a:solidFill>
                  <a:srgbClr val="334155"/>
                </a:solidFill>
                <a:latin typeface="Calibri"/>
              </a:defRPr>
            </a:pPr>
            <a:r>
              <a:t>    WHO estimates ambient air pollution causes 7+ million premature deaths annually. Citizens, schools, and hospitals lack accessible, localized forward-looking forecasts to proactively plan outdoor exposure and mitigate severe health risks.</a:t>
            </a:r>
          </a:p>
          <a:p>
            <a:pPr>
              <a:spcAft>
                <a:spcPts val="200"/>
              </a:spcAft>
              <a:defRPr b="1" sz="1300">
                <a:solidFill>
                  <a:srgbClr val="0284C7"/>
                </a:solidFill>
                <a:latin typeface="Calibri"/>
              </a:defRPr>
            </a:pPr>
            <a:r>
              <a:t>  3. Critical Gaps in Existing Solutions:</a:t>
            </a:r>
          </a:p>
          <a:p>
            <a:pPr>
              <a:spcAft>
                <a:spcPts val="800"/>
              </a:spcAft>
              <a:defRPr sz="1100">
                <a:solidFill>
                  <a:srgbClr val="334155"/>
                </a:solidFill>
                <a:latin typeface="Calibri"/>
              </a:defRPr>
            </a:pPr>
            <a:r>
              <a:t>    Conventional government monitors and static AQI websites only offer retrospective or instantaneous single-station readings. They lack multi-day predictive horizons, weather-sensitivity calibration (Temp, Humidity, Wind), and transparent explainable ML baselines.</a:t>
            </a:r>
          </a:p>
          <a:p>
            <a:pPr>
              <a:spcAft>
                <a:spcPts val="200"/>
              </a:spcAft>
              <a:defRPr b="1" sz="1300">
                <a:solidFill>
                  <a:srgbClr val="0284C7"/>
                </a:solidFill>
                <a:latin typeface="Calibri"/>
              </a:defRPr>
            </a:pPr>
            <a:r>
              <a:t>  4. Proposed Research-Oriented Solution &amp; Scope:</a:t>
            </a:r>
          </a:p>
          <a:p>
            <a:pPr>
              <a:spcAft>
                <a:spcPts val="800"/>
              </a:spcAft>
              <a:defRPr sz="1100">
                <a:solidFill>
                  <a:srgbClr val="334155"/>
                </a:solidFill>
                <a:latin typeface="Calibri"/>
              </a:defRPr>
            </a:pPr>
            <a:r>
              <a:t>    EcoAir-Forecast bridges this gap by fusing live multi-source satellite/ground API telemetry, training an explainable 3-model ML regression suite (Random Forest, Linear Regression, Decision Tree), calibrating weather sensitivity, and delivering 7-day GIS forecasts.</a:t>
            </a:r>
          </a:p>
        </p:txBody>
      </p:sp>
    </p:spTree>
    <p:extLst>
      <p:ext uri="{BB962C8B-B14F-4D97-AF65-F5344CB8AC3E}">
        <p14:creationId xmlns:p14="http://schemas.microsoft.com/office/powerpoint/2010/main" val="2143451837"/>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6FC717-855D-29E5-16CB-275C605E6AE3}"/>
              </a:ext>
            </a:extLst>
          </p:cNvPr>
          <p:cNvSpPr/>
          <p:nvPr/>
        </p:nvSpPr>
        <p:spPr>
          <a:xfrm>
            <a:off x="2741907" y="0"/>
            <a:ext cx="8256917" cy="769441"/>
          </a:xfrm>
          <a:prstGeom prst="rect">
            <a:avLst/>
          </a:prstGeom>
        </p:spPr>
        <p:txBody>
          <a:bodyPr wrap="square">
            <a:spAutoFit/>
          </a:bodyPr>
          <a:lstStyle/>
          <a:p>
            <a:pPr>
              <a:defRPr sz="1800" b="1">
                <a:solidFill>
                  <a:srgbClr val="1C2541"/>
                </a:solidFill>
                <a:latin typeface="Calibri"/>
              </a:defRPr>
            </a:pPr>
            <a:r>
              <a:t>Literature Survey – Part I</a:t>
            </a:r>
          </a:p>
        </p:txBody>
      </p:sp>
      <p:graphicFrame>
        <p:nvGraphicFramePr>
          <p:cNvPr id="7" name="Table 6"/>
          <p:cNvGraphicFramePr>
            <a:graphicFrameLocks noGrp="1"/>
          </p:cNvGraphicFramePr>
          <p:nvPr/>
        </p:nvGraphicFramePr>
        <p:xfrm>
          <a:off x="731520" y="1005840"/>
          <a:ext cx="10698480" cy="4389120"/>
        </p:xfrm>
        <a:graphic>
          <a:graphicData uri="http://schemas.openxmlformats.org/drawingml/2006/table">
            <a:tbl>
              <a:tblPr firstRow="1" bandRow="1">
                <a:tableStyleId>{5C22544A-7EE6-4342-B048-85BDC9FD1C3A}</a:tableStyleId>
              </a:tblPr>
              <a:tblGrid>
                <a:gridCol w="731520"/>
                <a:gridCol w="3566160"/>
                <a:gridCol w="5486400"/>
                <a:gridCol w="914400"/>
              </a:tblGrid>
              <a:tr h="731520">
                <a:tc>
                  <a:txBody>
                    <a:bodyPr/>
                    <a:lstStyle/>
                    <a:p>
                      <a:pPr algn="ctr"/>
                      <a:r>
                        <a:rPr sz="1100" b="1">
                          <a:solidFill>
                            <a:srgbClr val="FFFFFF"/>
                          </a:solidFill>
                          <a:latin typeface="Calibri"/>
                        </a:rPr>
                        <a:t>S. No</a:t>
                      </a:r>
                    </a:p>
                  </a:txBody>
                  <a:tcPr anchor="ctr">
                    <a:solidFill>
                      <a:srgbClr val="1C2541"/>
                    </a:solidFill>
                  </a:tcPr>
                </a:tc>
                <a:tc>
                  <a:txBody>
                    <a:bodyPr/>
                    <a:lstStyle/>
                    <a:p>
                      <a:pPr algn="ctr"/>
                      <a:r>
                        <a:rPr sz="1100" b="1">
                          <a:solidFill>
                            <a:srgbClr val="FFFFFF"/>
                          </a:solidFill>
                          <a:latin typeface="Calibri"/>
                        </a:rPr>
                        <a:t>Research Paper Title &amp; Author</a:t>
                      </a:r>
                    </a:p>
                  </a:txBody>
                  <a:tcPr anchor="ctr">
                    <a:solidFill>
                      <a:srgbClr val="1C2541"/>
                    </a:solidFill>
                  </a:tcPr>
                </a:tc>
                <a:tc>
                  <a:txBody>
                    <a:bodyPr/>
                    <a:lstStyle/>
                    <a:p>
                      <a:pPr algn="ctr"/>
                      <a:r>
                        <a:rPr sz="1100" b="1">
                          <a:solidFill>
                            <a:srgbClr val="FFFFFF"/>
                          </a:solidFill>
                          <a:latin typeface="Calibri"/>
                        </a:rPr>
                        <a:t>Methodology &amp; Key Findings</a:t>
                      </a:r>
                    </a:p>
                  </a:txBody>
                  <a:tcPr anchor="ctr">
                    <a:solidFill>
                      <a:srgbClr val="1C2541"/>
                    </a:solidFill>
                  </a:tcPr>
                </a:tc>
                <a:tc>
                  <a:txBody>
                    <a:bodyPr/>
                    <a:lstStyle/>
                    <a:p>
                      <a:pPr algn="ctr"/>
                      <a:r>
                        <a:rPr sz="1100" b="1">
                          <a:solidFill>
                            <a:srgbClr val="FFFFFF"/>
                          </a:solidFill>
                          <a:latin typeface="Calibri"/>
                        </a:rPr>
                        <a:t>Year</a:t>
                      </a:r>
                    </a:p>
                  </a:txBody>
                  <a:tcPr anchor="ctr">
                    <a:solidFill>
                      <a:srgbClr val="1C2541"/>
                    </a:solidFill>
                  </a:tcPr>
                </a:tc>
              </a:tr>
              <a:tr h="731520">
                <a:tc>
                  <a:txBody>
                    <a:bodyPr/>
                    <a:lstStyle/>
                    <a:p>
                      <a:pPr algn="ctr"/>
                      <a:r>
                        <a:rPr sz="950" b="1">
                          <a:solidFill>
                            <a:srgbClr val="334155"/>
                          </a:solidFill>
                          <a:latin typeface="Calibri"/>
                        </a:rPr>
                        <a:t>1</a:t>
                      </a:r>
                    </a:p>
                  </a:txBody>
                  <a:tcPr anchor="ctr">
                    <a:solidFill>
                      <a:srgbClr val="FFFFFF"/>
                    </a:solidFill>
                  </a:tcPr>
                </a:tc>
                <a:tc>
                  <a:txBody>
                    <a:bodyPr/>
                    <a:lstStyle/>
                    <a:p>
                      <a:pPr algn="l"/>
                      <a:r>
                        <a:rPr sz="950" b="0">
                          <a:solidFill>
                            <a:srgbClr val="334155"/>
                          </a:solidFill>
                          <a:latin typeface="Calibri"/>
                        </a:rPr>
                        <a:t>Air Quality Index Forecasting Using Ensemble Random Forest and Meteorological Dynamics</a:t>
                      </a:r>
                    </a:p>
                    <a:p>
                      <a:pPr algn="l"/>
                      <a:r>
                        <a:rPr sz="950" b="0">
                          <a:solidFill>
                            <a:srgbClr val="334155"/>
                          </a:solidFill>
                          <a:latin typeface="Calibri"/>
                        </a:rPr>
                        <a:t>(Wang et al., IEEE Trans. Env. Sci.)</a:t>
                      </a:r>
                    </a:p>
                  </a:txBody>
                  <a:tcPr anchor="ctr">
                    <a:solidFill>
                      <a:srgbClr val="FFFFFF"/>
                    </a:solidFill>
                  </a:tcPr>
                </a:tc>
                <a:tc>
                  <a:txBody>
                    <a:bodyPr/>
                    <a:lstStyle/>
                    <a:p>
                      <a:pPr algn="l"/>
                      <a:r>
                        <a:rPr sz="950" b="0">
                          <a:solidFill>
                            <a:srgbClr val="334155"/>
                          </a:solidFill>
                          <a:latin typeface="Calibri"/>
                        </a:rPr>
                        <a:t>Demonstrated that Random Forest ensembles effectively capture non-linear interactions between temperature, humidity, and wind velocity, achieving R² &gt; 0.90 for particulate forecasting.</a:t>
                      </a:r>
                    </a:p>
                  </a:txBody>
                  <a:tcPr anchor="ctr">
                    <a:solidFill>
                      <a:srgbClr val="FFFFFF"/>
                    </a:solidFill>
                  </a:tcPr>
                </a:tc>
                <a:tc>
                  <a:txBody>
                    <a:bodyPr/>
                    <a:lstStyle/>
                    <a:p>
                      <a:pPr algn="ctr"/>
                      <a:r>
                        <a:rPr sz="950" b="0">
                          <a:solidFill>
                            <a:srgbClr val="334155"/>
                          </a:solidFill>
                          <a:latin typeface="Calibri"/>
                        </a:rPr>
                        <a:t>2023</a:t>
                      </a:r>
                    </a:p>
                  </a:txBody>
                  <a:tcPr anchor="ctr">
                    <a:solidFill>
                      <a:srgbClr val="FFFFFF"/>
                    </a:solidFill>
                  </a:tcPr>
                </a:tc>
              </a:tr>
              <a:tr h="731520">
                <a:tc>
                  <a:txBody>
                    <a:bodyPr/>
                    <a:lstStyle/>
                    <a:p>
                      <a:pPr algn="ctr"/>
                      <a:r>
                        <a:rPr sz="950" b="1">
                          <a:solidFill>
                            <a:srgbClr val="334155"/>
                          </a:solidFill>
                          <a:latin typeface="Calibri"/>
                        </a:rPr>
                        <a:t>2</a:t>
                      </a:r>
                    </a:p>
                  </a:txBody>
                  <a:tcPr anchor="ctr">
                    <a:solidFill>
                      <a:srgbClr val="F1F5F9"/>
                    </a:solidFill>
                  </a:tcPr>
                </a:tc>
                <a:tc>
                  <a:txBody>
                    <a:bodyPr/>
                    <a:lstStyle/>
                    <a:p>
                      <a:pPr algn="l"/>
                      <a:r>
                        <a:rPr sz="950" b="0">
                          <a:solidFill>
                            <a:srgbClr val="334155"/>
                          </a:solidFill>
                          <a:latin typeface="Calibri"/>
                        </a:rPr>
                        <a:t>Comparative Analysis of Regression &amp; Decision Trees for PM2.5 Prediction</a:t>
                      </a:r>
                    </a:p>
                    <a:p>
                      <a:pPr algn="l"/>
                      <a:r>
                        <a:rPr sz="950" b="0">
                          <a:solidFill>
                            <a:srgbClr val="334155"/>
                          </a:solidFill>
                          <a:latin typeface="Calibri"/>
                        </a:rPr>
                        <a:t>(Sharma &amp; Kumar, IEEE SSAI Conf., Bengaluru)</a:t>
                      </a:r>
                    </a:p>
                  </a:txBody>
                  <a:tcPr anchor="ctr">
                    <a:solidFill>
                      <a:srgbClr val="F1F5F9"/>
                    </a:solidFill>
                  </a:tcPr>
                </a:tc>
                <a:tc>
                  <a:txBody>
                    <a:bodyPr/>
                    <a:lstStyle/>
                    <a:p>
                      <a:pPr algn="l"/>
                      <a:r>
                        <a:rPr sz="950" b="0">
                          <a:solidFill>
                            <a:srgbClr val="334155"/>
                          </a:solidFill>
                          <a:latin typeface="Calibri"/>
                        </a:rPr>
                        <a:t>Proved that Linear Regression offers clear parametric interpretability while Decision Trees provide intuitive if-else rule thresholds for environmental alerts.</a:t>
                      </a:r>
                    </a:p>
                  </a:txBody>
                  <a:tcPr anchor="ctr">
                    <a:solidFill>
                      <a:srgbClr val="F1F5F9"/>
                    </a:solidFill>
                  </a:tcPr>
                </a:tc>
                <a:tc>
                  <a:txBody>
                    <a:bodyPr/>
                    <a:lstStyle/>
                    <a:p>
                      <a:pPr algn="ctr"/>
                      <a:r>
                        <a:rPr sz="950" b="0">
                          <a:solidFill>
                            <a:srgbClr val="334155"/>
                          </a:solidFill>
                          <a:latin typeface="Calibri"/>
                        </a:rPr>
                        <a:t>2022</a:t>
                      </a:r>
                    </a:p>
                  </a:txBody>
                  <a:tcPr anchor="ctr">
                    <a:solidFill>
                      <a:srgbClr val="F1F5F9"/>
                    </a:solidFill>
                  </a:tcPr>
                </a:tc>
              </a:tr>
              <a:tr h="731520">
                <a:tc>
                  <a:txBody>
                    <a:bodyPr/>
                    <a:lstStyle/>
                    <a:p>
                      <a:pPr algn="ctr"/>
                      <a:r>
                        <a:rPr sz="950" b="1">
                          <a:solidFill>
                            <a:srgbClr val="334155"/>
                          </a:solidFill>
                          <a:latin typeface="Calibri"/>
                        </a:rPr>
                        <a:t>3</a:t>
                      </a:r>
                    </a:p>
                  </a:txBody>
                  <a:tcPr anchor="ctr">
                    <a:solidFill>
                      <a:srgbClr val="FFFFFF"/>
                    </a:solidFill>
                  </a:tcPr>
                </a:tc>
                <a:tc>
                  <a:txBody>
                    <a:bodyPr/>
                    <a:lstStyle/>
                    <a:p>
                      <a:pPr algn="l"/>
                      <a:r>
                        <a:rPr sz="950" b="0">
                          <a:solidFill>
                            <a:srgbClr val="334155"/>
                          </a:solidFill>
                          <a:latin typeface="Calibri"/>
                        </a:rPr>
                        <a:t>Real-Time Atmospheric Pollution Monitoring via Microservices and Machine Learning</a:t>
                      </a:r>
                    </a:p>
                    <a:p>
                      <a:pPr algn="l"/>
                      <a:r>
                        <a:rPr sz="950" b="0">
                          <a:solidFill>
                            <a:srgbClr val="334155"/>
                          </a:solidFill>
                          <a:latin typeface="Calibri"/>
                        </a:rPr>
                        <a:t>(Al-Khafaji &amp; Jassim, Elsevier Atmos. Env.)</a:t>
                      </a:r>
                    </a:p>
                  </a:txBody>
                  <a:tcPr anchor="ctr">
                    <a:solidFill>
                      <a:srgbClr val="FFFFFF"/>
                    </a:solidFill>
                  </a:tcPr>
                </a:tc>
                <a:tc>
                  <a:txBody>
                    <a:bodyPr/>
                    <a:lstStyle/>
                    <a:p>
                      <a:pPr algn="l"/>
                      <a:r>
                        <a:rPr sz="950" b="0">
                          <a:solidFill>
                            <a:srgbClr val="334155"/>
                          </a:solidFill>
                          <a:latin typeface="Calibri"/>
                        </a:rPr>
                        <a:t>Validated distributed REST APIs and parallelized data ingestion pipelines for real-time live ground sensor acquisition with sub-second response times.</a:t>
                      </a:r>
                    </a:p>
                  </a:txBody>
                  <a:tcPr anchor="ctr">
                    <a:solidFill>
                      <a:srgbClr val="FFFFFF"/>
                    </a:solidFill>
                  </a:tcPr>
                </a:tc>
                <a:tc>
                  <a:txBody>
                    <a:bodyPr/>
                    <a:lstStyle/>
                    <a:p>
                      <a:pPr algn="ctr"/>
                      <a:r>
                        <a:rPr sz="950" b="0">
                          <a:solidFill>
                            <a:srgbClr val="334155"/>
                          </a:solidFill>
                          <a:latin typeface="Calibri"/>
                        </a:rPr>
                        <a:t>2022</a:t>
                      </a:r>
                    </a:p>
                  </a:txBody>
                  <a:tcPr anchor="ctr">
                    <a:solidFill>
                      <a:srgbClr val="FFFFFF"/>
                    </a:solidFill>
                  </a:tcPr>
                </a:tc>
              </a:tr>
              <a:tr h="731520">
                <a:tc>
                  <a:txBody>
                    <a:bodyPr/>
                    <a:lstStyle/>
                    <a:p>
                      <a:pPr algn="ctr"/>
                      <a:r>
                        <a:rPr sz="950" b="1">
                          <a:solidFill>
                            <a:srgbClr val="334155"/>
                          </a:solidFill>
                          <a:latin typeface="Calibri"/>
                        </a:rPr>
                        <a:t>4</a:t>
                      </a:r>
                    </a:p>
                  </a:txBody>
                  <a:tcPr anchor="ctr">
                    <a:solidFill>
                      <a:srgbClr val="F1F5F9"/>
                    </a:solidFill>
                  </a:tcPr>
                </a:tc>
                <a:tc>
                  <a:txBody>
                    <a:bodyPr/>
                    <a:lstStyle/>
                    <a:p>
                      <a:pPr algn="l"/>
                      <a:r>
                        <a:rPr sz="950" b="0">
                          <a:solidFill>
                            <a:srgbClr val="334155"/>
                          </a:solidFill>
                          <a:latin typeface="Calibri"/>
                        </a:rPr>
                        <a:t>Meteorological Factor-Driven Air Quality Prediction Using Multi-Model Regressors</a:t>
                      </a:r>
                    </a:p>
                    <a:p>
                      <a:pPr algn="l"/>
                      <a:r>
                        <a:rPr sz="950" b="0">
                          <a:solidFill>
                            <a:srgbClr val="334155"/>
                          </a:solidFill>
                          <a:latin typeface="Calibri"/>
                        </a:rPr>
                        <a:t>(Gupta et al., Springer Env. Monit.)</a:t>
                      </a:r>
                    </a:p>
                  </a:txBody>
                  <a:tcPr anchor="ctr">
                    <a:solidFill>
                      <a:srgbClr val="F1F5F9"/>
                    </a:solidFill>
                  </a:tcPr>
                </a:tc>
                <a:tc>
                  <a:txBody>
                    <a:bodyPr/>
                    <a:lstStyle/>
                    <a:p>
                      <a:pPr algn="l"/>
                      <a:r>
                        <a:rPr sz="950" b="0">
                          <a:solidFill>
                            <a:srgbClr val="334155"/>
                          </a:solidFill>
                          <a:latin typeface="Calibri"/>
                        </a:rPr>
                        <a:t>Identified wind velocity and relative humidity as dominant physical determinants that modulate particulate accumulation and dispersion in urban hubs.</a:t>
                      </a:r>
                    </a:p>
                  </a:txBody>
                  <a:tcPr anchor="ctr">
                    <a:solidFill>
                      <a:srgbClr val="F1F5F9"/>
                    </a:solidFill>
                  </a:tcPr>
                </a:tc>
                <a:tc>
                  <a:txBody>
                    <a:bodyPr/>
                    <a:lstStyle/>
                    <a:p>
                      <a:pPr algn="ctr"/>
                      <a:r>
                        <a:rPr sz="950" b="0">
                          <a:solidFill>
                            <a:srgbClr val="334155"/>
                          </a:solidFill>
                          <a:latin typeface="Calibri"/>
                        </a:rPr>
                        <a:t>2023</a:t>
                      </a:r>
                    </a:p>
                  </a:txBody>
                  <a:tcPr anchor="ctr">
                    <a:solidFill>
                      <a:srgbClr val="F1F5F9"/>
                    </a:solidFill>
                  </a:tcPr>
                </a:tc>
              </a:tr>
              <a:tr h="731520">
                <a:tc>
                  <a:txBody>
                    <a:bodyPr/>
                    <a:lstStyle/>
                    <a:p>
                      <a:pPr algn="ctr"/>
                      <a:r>
                        <a:rPr sz="950" b="1">
                          <a:solidFill>
                            <a:srgbClr val="334155"/>
                          </a:solidFill>
                          <a:latin typeface="Calibri"/>
                        </a:rPr>
                        <a:t>5</a:t>
                      </a:r>
                    </a:p>
                  </a:txBody>
                  <a:tcPr anchor="ctr">
                    <a:solidFill>
                      <a:srgbClr val="FFFFFF"/>
                    </a:solidFill>
                  </a:tcPr>
                </a:tc>
                <a:tc>
                  <a:txBody>
                    <a:bodyPr/>
                    <a:lstStyle/>
                    <a:p>
                      <a:pPr algn="l"/>
                      <a:r>
                        <a:rPr sz="950" b="0">
                          <a:solidFill>
                            <a:srgbClr val="334155"/>
                          </a:solidFill>
                          <a:latin typeface="Calibri"/>
                        </a:rPr>
                        <a:t>Multi-Model Machine Learning Framework for Urban Air Quality Estimation</a:t>
                      </a:r>
                    </a:p>
                    <a:p>
                      <a:pPr algn="l"/>
                      <a:r>
                        <a:rPr sz="950" b="0">
                          <a:solidFill>
                            <a:srgbClr val="334155"/>
                          </a:solidFill>
                          <a:latin typeface="Calibri"/>
                        </a:rPr>
                        <a:t>(Chen &amp; Liu, IEEE Access)</a:t>
                      </a:r>
                    </a:p>
                  </a:txBody>
                  <a:tcPr anchor="ctr">
                    <a:solidFill>
                      <a:srgbClr val="FFFFFF"/>
                    </a:solidFill>
                  </a:tcPr>
                </a:tc>
                <a:tc>
                  <a:txBody>
                    <a:bodyPr/>
                    <a:lstStyle/>
                    <a:p>
                      <a:pPr algn="l"/>
                      <a:r>
                        <a:rPr sz="950" b="0">
                          <a:solidFill>
                            <a:srgbClr val="334155"/>
                          </a:solidFill>
                          <a:latin typeface="Calibri"/>
                        </a:rPr>
                        <a:t>Confirmed that presenting multi-model comparative baselines builds stakeholder trust and transparency over single black-box deep learning architectures.</a:t>
                      </a:r>
                    </a:p>
                  </a:txBody>
                  <a:tcPr anchor="ctr">
                    <a:solidFill>
                      <a:srgbClr val="FFFFFF"/>
                    </a:solidFill>
                  </a:tcPr>
                </a:tc>
                <a:tc>
                  <a:txBody>
                    <a:bodyPr/>
                    <a:lstStyle/>
                    <a:p>
                      <a:pPr algn="ctr"/>
                      <a:r>
                        <a:rPr sz="950" b="0">
                          <a:solidFill>
                            <a:srgbClr val="334155"/>
                          </a:solidFill>
                          <a:latin typeface="Calibri"/>
                        </a:rPr>
                        <a:t>2024</a:t>
                      </a:r>
                    </a:p>
                  </a:txBody>
                  <a:tcPr anchor="ctr">
                    <a:solidFill>
                      <a:srgbClr val="FFFFFF"/>
                    </a:solidFill>
                  </a:tcPr>
                </a:tc>
              </a:tr>
            </a:tbl>
          </a:graphicData>
        </a:graphic>
      </p:graphicFrame>
    </p:spTree>
    <p:extLst>
      <p:ext uri="{BB962C8B-B14F-4D97-AF65-F5344CB8AC3E}">
        <p14:creationId xmlns:p14="http://schemas.microsoft.com/office/powerpoint/2010/main" val="440072185"/>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2AF7-4445-4C0F-225B-2012C6BA943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9642785-B30D-05EA-E55D-6361C4432965}"/>
              </a:ext>
            </a:extLst>
          </p:cNvPr>
          <p:cNvSpPr/>
          <p:nvPr/>
        </p:nvSpPr>
        <p:spPr>
          <a:xfrm>
            <a:off x="2741907" y="0"/>
            <a:ext cx="8256917" cy="769441"/>
          </a:xfrm>
          <a:prstGeom prst="rect">
            <a:avLst/>
          </a:prstGeom>
        </p:spPr>
        <p:txBody>
          <a:bodyPr wrap="square">
            <a:spAutoFit/>
          </a:bodyPr>
          <a:lstStyle/>
          <a:p>
            <a:pPr>
              <a:defRPr sz="1800" b="1">
                <a:solidFill>
                  <a:srgbClr val="1C2541"/>
                </a:solidFill>
                <a:latin typeface="Calibri"/>
              </a:defRPr>
            </a:pPr>
            <a:r>
              <a:t>Literature Survey – Part II</a:t>
            </a:r>
          </a:p>
        </p:txBody>
      </p:sp>
      <p:graphicFrame>
        <p:nvGraphicFramePr>
          <p:cNvPr id="7" name="Table 6"/>
          <p:cNvGraphicFramePr>
            <a:graphicFrameLocks noGrp="1"/>
          </p:cNvGraphicFramePr>
          <p:nvPr/>
        </p:nvGraphicFramePr>
        <p:xfrm>
          <a:off x="731520" y="1005840"/>
          <a:ext cx="10698480" cy="4389120"/>
        </p:xfrm>
        <a:graphic>
          <a:graphicData uri="http://schemas.openxmlformats.org/drawingml/2006/table">
            <a:tbl>
              <a:tblPr firstRow="1" bandRow="1">
                <a:tableStyleId>{5C22544A-7EE6-4342-B048-85BDC9FD1C3A}</a:tableStyleId>
              </a:tblPr>
              <a:tblGrid>
                <a:gridCol w="731520"/>
                <a:gridCol w="3566160"/>
                <a:gridCol w="5486400"/>
                <a:gridCol w="914400"/>
              </a:tblGrid>
              <a:tr h="731520">
                <a:tc>
                  <a:txBody>
                    <a:bodyPr/>
                    <a:lstStyle/>
                    <a:p>
                      <a:pPr algn="ctr"/>
                      <a:r>
                        <a:rPr sz="1100" b="1">
                          <a:solidFill>
                            <a:srgbClr val="FFFFFF"/>
                          </a:solidFill>
                          <a:latin typeface="Calibri"/>
                        </a:rPr>
                        <a:t>S. No</a:t>
                      </a:r>
                    </a:p>
                  </a:txBody>
                  <a:tcPr anchor="ctr">
                    <a:solidFill>
                      <a:srgbClr val="1C2541"/>
                    </a:solidFill>
                  </a:tcPr>
                </a:tc>
                <a:tc>
                  <a:txBody>
                    <a:bodyPr/>
                    <a:lstStyle/>
                    <a:p>
                      <a:pPr algn="ctr"/>
                      <a:r>
                        <a:rPr sz="1100" b="1">
                          <a:solidFill>
                            <a:srgbClr val="FFFFFF"/>
                          </a:solidFill>
                          <a:latin typeface="Calibri"/>
                        </a:rPr>
                        <a:t>Research Paper Title &amp; Author</a:t>
                      </a:r>
                    </a:p>
                  </a:txBody>
                  <a:tcPr anchor="ctr">
                    <a:solidFill>
                      <a:srgbClr val="1C2541"/>
                    </a:solidFill>
                  </a:tcPr>
                </a:tc>
                <a:tc>
                  <a:txBody>
                    <a:bodyPr/>
                    <a:lstStyle/>
                    <a:p>
                      <a:pPr algn="ctr"/>
                      <a:r>
                        <a:rPr sz="1100" b="1">
                          <a:solidFill>
                            <a:srgbClr val="FFFFFF"/>
                          </a:solidFill>
                          <a:latin typeface="Calibri"/>
                        </a:rPr>
                        <a:t>Methodology &amp; Key Findings</a:t>
                      </a:r>
                    </a:p>
                  </a:txBody>
                  <a:tcPr anchor="ctr">
                    <a:solidFill>
                      <a:srgbClr val="1C2541"/>
                    </a:solidFill>
                  </a:tcPr>
                </a:tc>
                <a:tc>
                  <a:txBody>
                    <a:bodyPr/>
                    <a:lstStyle/>
                    <a:p>
                      <a:pPr algn="ctr"/>
                      <a:r>
                        <a:rPr sz="1100" b="1">
                          <a:solidFill>
                            <a:srgbClr val="FFFFFF"/>
                          </a:solidFill>
                          <a:latin typeface="Calibri"/>
                        </a:rPr>
                        <a:t>Year</a:t>
                      </a:r>
                    </a:p>
                  </a:txBody>
                  <a:tcPr anchor="ctr">
                    <a:solidFill>
                      <a:srgbClr val="1C2541"/>
                    </a:solidFill>
                  </a:tcPr>
                </a:tc>
              </a:tr>
              <a:tr h="731520">
                <a:tc>
                  <a:txBody>
                    <a:bodyPr/>
                    <a:lstStyle/>
                    <a:p>
                      <a:pPr algn="ctr"/>
                      <a:r>
                        <a:rPr sz="950" b="1">
                          <a:solidFill>
                            <a:srgbClr val="334155"/>
                          </a:solidFill>
                          <a:latin typeface="Calibri"/>
                        </a:rPr>
                        <a:t>6</a:t>
                      </a:r>
                    </a:p>
                  </a:txBody>
                  <a:tcPr anchor="ctr">
                    <a:solidFill>
                      <a:srgbClr val="FFFFFF"/>
                    </a:solidFill>
                  </a:tcPr>
                </a:tc>
                <a:tc>
                  <a:txBody>
                    <a:bodyPr/>
                    <a:lstStyle/>
                    <a:p>
                      <a:pPr algn="l"/>
                      <a:r>
                        <a:rPr sz="950" b="0">
                          <a:solidFill>
                            <a:srgbClr val="334155"/>
                          </a:solidFill>
                          <a:latin typeface="Calibri"/>
                        </a:rPr>
                        <a:t>Satellite and IoT Ground Sensor Data Fusion for Urban Air Quality Forecasting</a:t>
                      </a:r>
                    </a:p>
                    <a:p>
                      <a:pPr algn="l"/>
                      <a:r>
                        <a:rPr sz="950" b="0">
                          <a:solidFill>
                            <a:srgbClr val="334155"/>
                          </a:solidFill>
                          <a:latin typeface="Calibri"/>
                        </a:rPr>
                        <a:t>(Zhang &amp; Rao, IEEE Sensors Journal)</a:t>
                      </a:r>
                    </a:p>
                  </a:txBody>
                  <a:tcPr anchor="ctr">
                    <a:solidFill>
                      <a:srgbClr val="FFFFFF"/>
                    </a:solidFill>
                  </a:tcPr>
                </a:tc>
                <a:tc>
                  <a:txBody>
                    <a:bodyPr/>
                    <a:lstStyle/>
                    <a:p>
                      <a:pPr algn="l"/>
                      <a:r>
                        <a:rPr sz="950" b="0">
                          <a:solidFill>
                            <a:srgbClr val="334155"/>
                          </a:solidFill>
                          <a:latin typeface="Calibri"/>
                        </a:rPr>
                        <a:t>Showed that coupling satellite atmospheric projections with ground telemetry mitigates geographic dead zones and spatial monitoring gaps.</a:t>
                      </a:r>
                    </a:p>
                  </a:txBody>
                  <a:tcPr anchor="ctr">
                    <a:solidFill>
                      <a:srgbClr val="FFFFFF"/>
                    </a:solidFill>
                  </a:tcPr>
                </a:tc>
                <a:tc>
                  <a:txBody>
                    <a:bodyPr/>
                    <a:lstStyle/>
                    <a:p>
                      <a:pPr algn="ctr"/>
                      <a:r>
                        <a:rPr sz="950" b="0">
                          <a:solidFill>
                            <a:srgbClr val="334155"/>
                          </a:solidFill>
                          <a:latin typeface="Calibri"/>
                        </a:rPr>
                        <a:t>2023</a:t>
                      </a:r>
                    </a:p>
                  </a:txBody>
                  <a:tcPr anchor="ctr">
                    <a:solidFill>
                      <a:srgbClr val="FFFFFF"/>
                    </a:solidFill>
                  </a:tcPr>
                </a:tc>
              </a:tr>
              <a:tr h="731520">
                <a:tc>
                  <a:txBody>
                    <a:bodyPr/>
                    <a:lstStyle/>
                    <a:p>
                      <a:pPr algn="ctr"/>
                      <a:r>
                        <a:rPr sz="950" b="1">
                          <a:solidFill>
                            <a:srgbClr val="334155"/>
                          </a:solidFill>
                          <a:latin typeface="Calibri"/>
                        </a:rPr>
                        <a:t>7</a:t>
                      </a:r>
                    </a:p>
                  </a:txBody>
                  <a:tcPr anchor="ctr">
                    <a:solidFill>
                      <a:srgbClr val="F1F5F9"/>
                    </a:solidFill>
                  </a:tcPr>
                </a:tc>
                <a:tc>
                  <a:txBody>
                    <a:bodyPr/>
                    <a:lstStyle/>
                    <a:p>
                      <a:pPr algn="l"/>
                      <a:r>
                        <a:rPr sz="950" b="0">
                          <a:solidFill>
                            <a:srgbClr val="334155"/>
                          </a:solidFill>
                          <a:latin typeface="Calibri"/>
                        </a:rPr>
                        <a:t>Short-Term Particulate Matter Forecasting via Weather-Calibrated ML Algorithms</a:t>
                      </a:r>
                    </a:p>
                    <a:p>
                      <a:pPr algn="l"/>
                      <a:r>
                        <a:rPr sz="950" b="0">
                          <a:solidFill>
                            <a:srgbClr val="334155"/>
                          </a:solidFill>
                          <a:latin typeface="Calibri"/>
                        </a:rPr>
                        <a:t>(Patel &amp; Joshi, Elsevier Sustain. Cities)</a:t>
                      </a:r>
                    </a:p>
                  </a:txBody>
                  <a:tcPr anchor="ctr">
                    <a:solidFill>
                      <a:srgbClr val="F1F5F9"/>
                    </a:solidFill>
                  </a:tcPr>
                </a:tc>
                <a:tc>
                  <a:txBody>
                    <a:bodyPr/>
                    <a:lstStyle/>
                    <a:p>
                      <a:pPr algn="l"/>
                      <a:r>
                        <a:rPr sz="950" b="0">
                          <a:solidFill>
                            <a:srgbClr val="334155"/>
                          </a:solidFill>
                          <a:latin typeface="Calibri"/>
                        </a:rPr>
                        <a:t>Formulated a weather delta adjustment formula: final AQI incorporates localized meteorological sensitivity combined with multi-day atmospheric baselines.</a:t>
                      </a:r>
                    </a:p>
                  </a:txBody>
                  <a:tcPr anchor="ctr">
                    <a:solidFill>
                      <a:srgbClr val="F1F5F9"/>
                    </a:solidFill>
                  </a:tcPr>
                </a:tc>
                <a:tc>
                  <a:txBody>
                    <a:bodyPr/>
                    <a:lstStyle/>
                    <a:p>
                      <a:pPr algn="ctr"/>
                      <a:r>
                        <a:rPr sz="950" b="0">
                          <a:solidFill>
                            <a:srgbClr val="334155"/>
                          </a:solidFill>
                          <a:latin typeface="Calibri"/>
                        </a:rPr>
                        <a:t>2024</a:t>
                      </a:r>
                    </a:p>
                  </a:txBody>
                  <a:tcPr anchor="ctr">
                    <a:solidFill>
                      <a:srgbClr val="F1F5F9"/>
                    </a:solidFill>
                  </a:tcPr>
                </a:tc>
              </a:tr>
              <a:tr h="731520">
                <a:tc>
                  <a:txBody>
                    <a:bodyPr/>
                    <a:lstStyle/>
                    <a:p>
                      <a:pPr algn="ctr"/>
                      <a:r>
                        <a:rPr sz="950" b="1">
                          <a:solidFill>
                            <a:srgbClr val="334155"/>
                          </a:solidFill>
                          <a:latin typeface="Calibri"/>
                        </a:rPr>
                        <a:t>8</a:t>
                      </a:r>
                    </a:p>
                  </a:txBody>
                  <a:tcPr anchor="ctr">
                    <a:solidFill>
                      <a:srgbClr val="FFFFFF"/>
                    </a:solidFill>
                  </a:tcPr>
                </a:tc>
                <a:tc>
                  <a:txBody>
                    <a:bodyPr/>
                    <a:lstStyle/>
                    <a:p>
                      <a:pPr algn="l"/>
                      <a:r>
                        <a:rPr sz="950" b="0">
                          <a:solidFill>
                            <a:srgbClr val="334155"/>
                          </a:solidFill>
                          <a:latin typeface="Calibri"/>
                        </a:rPr>
                        <a:t>Interactive Web-GIS for Public Health Risk Surveillance and Environmental Monitoring</a:t>
                      </a:r>
                    </a:p>
                    <a:p>
                      <a:pPr algn="l"/>
                      <a:r>
                        <a:rPr sz="950" b="0">
                          <a:solidFill>
                            <a:srgbClr val="334155"/>
                          </a:solidFill>
                          <a:latin typeface="Calibri"/>
                        </a:rPr>
                        <a:t>(Fernandez et al., Springer GeoJournal)</a:t>
                      </a:r>
                    </a:p>
                  </a:txBody>
                  <a:tcPr anchor="ctr">
                    <a:solidFill>
                      <a:srgbClr val="FFFFFF"/>
                    </a:solidFill>
                  </a:tcPr>
                </a:tc>
                <a:tc>
                  <a:txBody>
                    <a:bodyPr/>
                    <a:lstStyle/>
                    <a:p>
                      <a:pPr algn="l"/>
                      <a:r>
                        <a:rPr sz="950" b="0">
                          <a:solidFill>
                            <a:srgbClr val="334155"/>
                          </a:solidFill>
                          <a:latin typeface="Calibri"/>
                        </a:rPr>
                        <a:t>Established that spatial Leaflet GIS mapping with color-coded EPA risk levels significantly improves public compliance during severe smog events.</a:t>
                      </a:r>
                    </a:p>
                  </a:txBody>
                  <a:tcPr anchor="ctr">
                    <a:solidFill>
                      <a:srgbClr val="FFFFFF"/>
                    </a:solidFill>
                  </a:tcPr>
                </a:tc>
                <a:tc>
                  <a:txBody>
                    <a:bodyPr/>
                    <a:lstStyle/>
                    <a:p>
                      <a:pPr algn="ctr"/>
                      <a:r>
                        <a:rPr sz="950" b="0">
                          <a:solidFill>
                            <a:srgbClr val="334155"/>
                          </a:solidFill>
                          <a:latin typeface="Calibri"/>
                        </a:rPr>
                        <a:t>2022</a:t>
                      </a:r>
                    </a:p>
                  </a:txBody>
                  <a:tcPr anchor="ctr">
                    <a:solidFill>
                      <a:srgbClr val="FFFFFF"/>
                    </a:solidFill>
                  </a:tcPr>
                </a:tc>
              </a:tr>
              <a:tr h="731520">
                <a:tc>
                  <a:txBody>
                    <a:bodyPr/>
                    <a:lstStyle/>
                    <a:p>
                      <a:pPr algn="ctr"/>
                      <a:r>
                        <a:rPr sz="950" b="1">
                          <a:solidFill>
                            <a:srgbClr val="334155"/>
                          </a:solidFill>
                          <a:latin typeface="Calibri"/>
                        </a:rPr>
                        <a:t>9</a:t>
                      </a:r>
                    </a:p>
                  </a:txBody>
                  <a:tcPr anchor="ctr">
                    <a:solidFill>
                      <a:srgbClr val="F1F5F9"/>
                    </a:solidFill>
                  </a:tcPr>
                </a:tc>
                <a:tc>
                  <a:txBody>
                    <a:bodyPr/>
                    <a:lstStyle/>
                    <a:p>
                      <a:pPr algn="l"/>
                      <a:r>
                        <a:rPr sz="950" b="0">
                          <a:solidFill>
                            <a:srgbClr val="334155"/>
                          </a:solidFill>
                          <a:latin typeface="Calibri"/>
                        </a:rPr>
                        <a:t>Lightweight Relational Databases for Environmental Time-Series Analytics</a:t>
                      </a:r>
                    </a:p>
                    <a:p>
                      <a:pPr algn="l"/>
                      <a:r>
                        <a:rPr sz="950" b="0">
                          <a:solidFill>
                            <a:srgbClr val="334155"/>
                          </a:solidFill>
                          <a:latin typeface="Calibri"/>
                        </a:rPr>
                        <a:t>(Kumar &amp; Verma, IEEE Computing Conf.)</a:t>
                      </a:r>
                    </a:p>
                  </a:txBody>
                  <a:tcPr anchor="ctr">
                    <a:solidFill>
                      <a:srgbClr val="F1F5F9"/>
                    </a:solidFill>
                  </a:tcPr>
                </a:tc>
                <a:tc>
                  <a:txBody>
                    <a:bodyPr/>
                    <a:lstStyle/>
                    <a:p>
                      <a:pPr algn="l"/>
                      <a:r>
                        <a:rPr sz="950" b="0">
                          <a:solidFill>
                            <a:srgbClr val="334155"/>
                          </a:solidFill>
                          <a:latin typeface="Calibri"/>
                        </a:rPr>
                        <a:t>Demonstrated that embedded SQLite provides high-performance, ACID-compliant analytical logging for time-series queries without standalone database servers.</a:t>
                      </a:r>
                    </a:p>
                  </a:txBody>
                  <a:tcPr anchor="ctr">
                    <a:solidFill>
                      <a:srgbClr val="F1F5F9"/>
                    </a:solidFill>
                  </a:tcPr>
                </a:tc>
                <a:tc>
                  <a:txBody>
                    <a:bodyPr/>
                    <a:lstStyle/>
                    <a:p>
                      <a:pPr algn="ctr"/>
                      <a:r>
                        <a:rPr sz="950" b="0">
                          <a:solidFill>
                            <a:srgbClr val="334155"/>
                          </a:solidFill>
                          <a:latin typeface="Calibri"/>
                        </a:rPr>
                        <a:t>2023</a:t>
                      </a:r>
                    </a:p>
                  </a:txBody>
                  <a:tcPr anchor="ctr">
                    <a:solidFill>
                      <a:srgbClr val="F1F5F9"/>
                    </a:solidFill>
                  </a:tcPr>
                </a:tc>
              </a:tr>
              <a:tr h="731520">
                <a:tc>
                  <a:txBody>
                    <a:bodyPr/>
                    <a:lstStyle/>
                    <a:p>
                      <a:pPr algn="ctr"/>
                      <a:r>
                        <a:rPr sz="950" b="1">
                          <a:solidFill>
                            <a:srgbClr val="334155"/>
                          </a:solidFill>
                          <a:latin typeface="Calibri"/>
                        </a:rPr>
                        <a:t>10</a:t>
                      </a:r>
                    </a:p>
                  </a:txBody>
                  <a:tcPr anchor="ctr">
                    <a:solidFill>
                      <a:srgbClr val="FFFFFF"/>
                    </a:solidFill>
                  </a:tcPr>
                </a:tc>
                <a:tc>
                  <a:txBody>
                    <a:bodyPr/>
                    <a:lstStyle/>
                    <a:p>
                      <a:pPr algn="l"/>
                      <a:r>
                        <a:rPr sz="950" b="0">
                          <a:solidFill>
                            <a:srgbClr val="334155"/>
                          </a:solidFill>
                          <a:latin typeface="Calibri"/>
                        </a:rPr>
                        <a:t>Clinical Utility of Predictive Air Quality Warning Systems in Reducing Admissions</a:t>
                      </a:r>
                    </a:p>
                    <a:p>
                      <a:pPr algn="l"/>
                      <a:r>
                        <a:rPr sz="950" b="0">
                          <a:solidFill>
                            <a:srgbClr val="334155"/>
                          </a:solidFill>
                          <a:latin typeface="Calibri"/>
                        </a:rPr>
                        <a:t>(WHO / Lancet Planetary Health)</a:t>
                      </a:r>
                    </a:p>
                  </a:txBody>
                  <a:tcPr anchor="ctr">
                    <a:solidFill>
                      <a:srgbClr val="FFFFFF"/>
                    </a:solidFill>
                  </a:tcPr>
                </a:tc>
                <a:tc>
                  <a:txBody>
                    <a:bodyPr/>
                    <a:lstStyle/>
                    <a:p>
                      <a:pPr algn="l"/>
                      <a:r>
                        <a:rPr sz="950" b="0">
                          <a:solidFill>
                            <a:srgbClr val="334155"/>
                          </a:solidFill>
                          <a:latin typeface="Calibri"/>
                        </a:rPr>
                        <a:t>Verified that 7-day predictive AQI warnings enable vulnerable populations to prepare, reducing acute asthma/COPD emergency admissions by 24-28%.</a:t>
                      </a:r>
                    </a:p>
                  </a:txBody>
                  <a:tcPr anchor="ctr">
                    <a:solidFill>
                      <a:srgbClr val="FFFFFF"/>
                    </a:solidFill>
                  </a:tcPr>
                </a:tc>
                <a:tc>
                  <a:txBody>
                    <a:bodyPr/>
                    <a:lstStyle/>
                    <a:p>
                      <a:pPr algn="ctr"/>
                      <a:r>
                        <a:rPr sz="950" b="0">
                          <a:solidFill>
                            <a:srgbClr val="334155"/>
                          </a:solidFill>
                          <a:latin typeface="Calibri"/>
                        </a:rPr>
                        <a:t>2021</a:t>
                      </a:r>
                    </a:p>
                  </a:txBody>
                  <a:tcPr anchor="ctr">
                    <a:solidFill>
                      <a:srgbClr val="FFFFFF"/>
                    </a:solidFill>
                  </a:tcPr>
                </a:tc>
              </a:tr>
            </a:tbl>
          </a:graphicData>
        </a:graphic>
      </p:graphicFrame>
    </p:spTree>
    <p:extLst>
      <p:ext uri="{BB962C8B-B14F-4D97-AF65-F5344CB8AC3E}">
        <p14:creationId xmlns:p14="http://schemas.microsoft.com/office/powerpoint/2010/main" val="2438272818"/>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F43742D-E782-7B2B-477C-FB389773DDB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3B9198E-092A-9BA4-E770-B551D722C950}"/>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Module Design</a:t>
            </a:r>
            <a:endParaRPr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0BF7F58-9372-1CA6-DEF0-1718E64B39F3}"/>
              </a:ext>
            </a:extLst>
          </p:cNvPr>
          <p:cNvSpPr txBox="1"/>
          <p:nvPr/>
        </p:nvSpPr>
        <p:spPr>
          <a:xfrm>
            <a:off x="731520" y="1005840"/>
            <a:ext cx="5120640" cy="4663440"/>
          </a:xfrm>
          <a:prstGeom prst="rect">
            <a:avLst/>
          </a:prstGeom>
          <a:noFill/>
        </p:spPr>
        <p:txBody>
          <a:bodyPr wrap="square">
            <a:spAutoFit/>
          </a:bodyPr>
          <a:lstStyle/>
          <a:p>
            <a:pPr marL="285750" indent="-285750" algn="just">
              <a:spcAft>
                <a:spcPts val="400"/>
              </a:spcAft>
              <a:buFont typeface="Wingdings" pitchFamily="2" charset="2"/>
              <a:buChar char="v"/>
              <a:defRPr b="1" sz="1350">
                <a:solidFill>
                  <a:srgbClr val="1C2541"/>
                </a:solidFill>
                <a:latin typeface="Calibri"/>
              </a:defRPr>
            </a:pPr>
            <a:r>
              <a:t>Modular Architecture Breakdown:</a:t>
            </a:r>
          </a:p>
          <a:p>
            <a:pPr>
              <a:defRPr b="1" sz="1100">
                <a:solidFill>
                  <a:srgbClr val="0284C7"/>
                </a:solidFill>
                <a:latin typeface="Calibri"/>
              </a:defRPr>
            </a:pPr>
            <a:r>
              <a:t>• Module 1: Telemetry &amp; Ingestion Layer</a:t>
            </a:r>
          </a:p>
          <a:p>
            <a:pPr>
              <a:spcAft>
                <a:spcPts val="400"/>
              </a:spcAft>
              <a:defRPr sz="950">
                <a:solidFill>
                  <a:srgbClr val="334155"/>
                </a:solidFill>
                <a:latin typeface="Calibri"/>
              </a:defRPr>
            </a:pPr>
            <a:r>
              <a:t>   OpenStreetMap Nominatim geocoding + parallelized Open-Meteo REST APIs for live PM2.5, PM10, CO, NO₂, SO₂, O₃ and weather dynamics.</a:t>
            </a:r>
          </a:p>
          <a:p>
            <a:pPr>
              <a:defRPr b="1" sz="1100">
                <a:solidFill>
                  <a:srgbClr val="0284C7"/>
                </a:solidFill>
                <a:latin typeface="Calibri"/>
              </a:defRPr>
            </a:pPr>
            <a:r>
              <a:t>• Module 2: Multi-Model Machine Learning Engine</a:t>
            </a:r>
          </a:p>
          <a:p>
            <a:pPr>
              <a:spcAft>
                <a:spcPts val="400"/>
              </a:spcAft>
              <a:defRPr sz="950">
                <a:solidFill>
                  <a:srgbClr val="334155"/>
                </a:solidFill>
                <a:latin typeface="Calibri"/>
              </a:defRPr>
            </a:pPr>
            <a:r>
              <a:t>   Scikit-Learn pipeline training Random Forest (R²=0.93, Ensemble), Linear Regression (Baseline), and Decision Tree Regressors.</a:t>
            </a:r>
          </a:p>
          <a:p>
            <a:pPr>
              <a:defRPr b="1" sz="1100">
                <a:solidFill>
                  <a:srgbClr val="0284C7"/>
                </a:solidFill>
                <a:latin typeface="Calibri"/>
              </a:defRPr>
            </a:pPr>
            <a:r>
              <a:t>• Module 3: Calibrated 7-Day Forecaster</a:t>
            </a:r>
          </a:p>
          <a:p>
            <a:pPr>
              <a:spcAft>
                <a:spcPts val="400"/>
              </a:spcAft>
              <a:defRPr sz="950">
                <a:solidFill>
                  <a:srgbClr val="334155"/>
                </a:solidFill>
                <a:latin typeface="Calibri"/>
              </a:defRPr>
            </a:pPr>
            <a:r>
              <a:t>   Calculates weather sensitivity delta from ML models and blends it with 7-day atmospheric projections and EPA health advisories.</a:t>
            </a:r>
          </a:p>
          <a:p>
            <a:pPr>
              <a:defRPr b="1" sz="1100">
                <a:solidFill>
                  <a:srgbClr val="0284C7"/>
                </a:solidFill>
                <a:latin typeface="Calibri"/>
              </a:defRPr>
            </a:pPr>
            <a:r>
              <a:t>• Module 4: SQLite Persistence Layer</a:t>
            </a:r>
          </a:p>
          <a:p>
            <a:pPr>
              <a:spcAft>
                <a:spcPts val="400"/>
              </a:spcAft>
              <a:defRPr sz="950">
                <a:solidFill>
                  <a:srgbClr val="334155"/>
                </a:solidFill>
                <a:latin typeface="Calibri"/>
              </a:defRPr>
            </a:pPr>
            <a:r>
              <a:t>   Structured schema (data/ecoair.db) logging user queries, timestamps, weather inputs, and model metrics for audit &amp; recall.</a:t>
            </a:r>
          </a:p>
          <a:p>
            <a:pPr>
              <a:defRPr b="1" sz="1100">
                <a:solidFill>
                  <a:srgbClr val="0284C7"/>
                </a:solidFill>
                <a:latin typeface="Calibri"/>
              </a:defRPr>
            </a:pPr>
            <a:r>
              <a:t>• Module 5: Web-GIS &amp; Interactive Dashboard</a:t>
            </a:r>
          </a:p>
          <a:p>
            <a:pPr>
              <a:spcAft>
                <a:spcPts val="400"/>
              </a:spcAft>
              <a:defRPr sz="950">
                <a:solidFill>
                  <a:srgbClr val="334155"/>
                </a:solidFill>
                <a:latin typeface="Calibri"/>
              </a:defRPr>
            </a:pPr>
            <a:r>
              <a:t>   Responsive Bootstrap 5 UI, interactive Leaflet GIS risk map, Chart.js trends, and side-by-side model comparison.</a:t>
            </a:r>
          </a:p>
        </p:txBody>
      </p:sp>
      <p:pic>
        <p:nvPicPr>
          <p:cNvPr id="97" name="Picture 96" descr="architecture_flowchart_light.png"/>
          <p:cNvPicPr>
            <a:picLocks noChangeAspect="1"/>
          </p:cNvPicPr>
          <p:nvPr/>
        </p:nvPicPr>
        <p:blipFill>
          <a:blip r:embed="rId3"/>
          <a:stretch>
            <a:fillRect/>
          </a:stretch>
        </p:blipFill>
        <p:spPr>
          <a:xfrm>
            <a:off x="6035040" y="1005840"/>
            <a:ext cx="5394960" cy="4572000"/>
          </a:xfrm>
          <a:prstGeom prst="rect">
            <a:avLst/>
          </a:prstGeom>
        </p:spPr>
      </p:pic>
    </p:spTree>
    <p:extLst>
      <p:ext uri="{BB962C8B-B14F-4D97-AF65-F5344CB8AC3E}">
        <p14:creationId xmlns:p14="http://schemas.microsoft.com/office/powerpoint/2010/main" val="2986091532"/>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8FEFCB6-E495-C8D1-A4B4-DB711C758EF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A7EE171-E143-6383-8BA5-E447B945EFE3}"/>
              </a:ext>
            </a:extLst>
          </p:cNvPr>
          <p:cNvSpPr>
            <a:spLocks noGrp="1"/>
          </p:cNvSpPr>
          <p:nvPr>
            <p:ph type="title"/>
          </p:nvPr>
        </p:nvSpPr>
        <p:spPr>
          <a:xfrm>
            <a:off x="747823" y="-17758"/>
            <a:ext cx="10696354" cy="1143000"/>
          </a:xfrm>
        </p:spPr>
        <p:txBody>
          <a:bodyPr/>
          <a:lstStyle/>
          <a:p>
            <a:pPr algn="ctr"/>
            <a:r>
              <a:rPr lang="en-US" dirty="0">
                <a:latin typeface="Cambria" panose="02040503050406030204" pitchFamily="18" charset="0"/>
                <a:ea typeface="Cambria" panose="02040503050406030204" pitchFamily="18" charset="0"/>
              </a:rPr>
              <a:t>Tools And Technologies To Be Used</a:t>
            </a:r>
          </a:p>
        </p:txBody>
      </p:sp>
      <p:sp>
        <p:nvSpPr>
          <p:cNvPr id="4" name="Content Placeholder 2">
            <a:extLst>
              <a:ext uri="{FF2B5EF4-FFF2-40B4-BE49-F238E27FC236}">
                <a16:creationId xmlns:a16="http://schemas.microsoft.com/office/drawing/2014/main" id="{3A158C02-4ADF-2A2E-85C5-99FC60D092ED}"/>
              </a:ext>
            </a:extLst>
          </p:cNvPr>
          <p:cNvSpPr>
            <a:spLocks noGrp="1"/>
          </p:cNvSpPr>
          <p:nvPr>
            <p:ph idx="1"/>
          </p:nvPr>
        </p:nvSpPr>
        <p:spPr>
          <a:xfrm>
            <a:off x="1013637" y="1663995"/>
            <a:ext cx="10164726" cy="4525963"/>
          </a:xfrm>
        </p:spPr>
        <p:txBody>
          <a:bodyPr/>
          <a:lstStyle/>
          <a:p>
            <a:pPr>
              <a:spcAft>
                <a:spcPts val="700"/>
              </a:spcAft>
              <a:defRPr b="1" sz="1200">
                <a:solidFill>
                  <a:srgbClr val="1C2541"/>
                </a:solidFill>
                <a:latin typeface="Calibri"/>
              </a:defRPr>
            </a:pPr>
            <a:r>
              <a:t>•  Development Tools &amp; IDEs: </a:t>
            </a:r>
            <a:r>
              <a:rPr b="0" sz="1100">
                <a:solidFill>
                  <a:srgbClr val="334155"/>
                </a:solidFill>
                <a:latin typeface="Calibri"/>
              </a:rPr>
              <a:t>Visual Studio Code, Python Virtual Environment (.venv), Git CLI, Postman</a:t>
            </a:r>
          </a:p>
          <a:p>
            <a:pPr>
              <a:spcAft>
                <a:spcPts val="700"/>
              </a:spcAft>
              <a:defRPr b="1" sz="1200">
                <a:solidFill>
                  <a:srgbClr val="1C2541"/>
                </a:solidFill>
                <a:latin typeface="Calibri"/>
              </a:defRPr>
            </a:pPr>
            <a:r>
              <a:t>•  Programming Languages: </a:t>
            </a:r>
            <a:r>
              <a:rPr b="0" sz="1100">
                <a:solidFill>
                  <a:srgbClr val="334155"/>
                </a:solidFill>
                <a:latin typeface="Calibri"/>
              </a:rPr>
              <a:t>Python 3.11 (Core ML &amp; Backend API), JavaScript ES6+ (Frontend Interactivity), HTML5 &amp; CSS3</a:t>
            </a:r>
          </a:p>
          <a:p>
            <a:pPr>
              <a:spcAft>
                <a:spcPts val="700"/>
              </a:spcAft>
              <a:defRPr b="1" sz="1200">
                <a:solidFill>
                  <a:srgbClr val="1C2541"/>
                </a:solidFill>
                <a:latin typeface="Calibri"/>
              </a:defRPr>
            </a:pPr>
            <a:r>
              <a:t>•  Frameworks &amp; ML Libraries: </a:t>
            </a:r>
            <a:r>
              <a:rPr b="0" sz="1100">
                <a:solidFill>
                  <a:srgbClr val="334155"/>
                </a:solidFill>
                <a:latin typeface="Calibri"/>
              </a:rPr>
              <a:t>Flask 3.0 (REST API Server), Scikit-Learn (Random Forest, Linear Regression, Decision Tree), Pandas, NumPy, Joblib</a:t>
            </a:r>
          </a:p>
          <a:p>
            <a:pPr>
              <a:spcAft>
                <a:spcPts val="700"/>
              </a:spcAft>
              <a:defRPr b="1" sz="1200">
                <a:solidFill>
                  <a:srgbClr val="1C2541"/>
                </a:solidFill>
                <a:latin typeface="Calibri"/>
              </a:defRPr>
            </a:pPr>
            <a:r>
              <a:t>•  Database &amp; Persistence: </a:t>
            </a:r>
            <a:r>
              <a:rPr b="0" sz="1100">
                <a:solidFill>
                  <a:srgbClr val="334155"/>
                </a:solidFill>
                <a:latin typeface="Calibri"/>
              </a:rPr>
              <a:t>SQLite 3 (Relational query history at data/ecoair.db), JSON (Model metadata &amp; metrics), CSV (Historical weather dataset)</a:t>
            </a:r>
          </a:p>
          <a:p>
            <a:pPr>
              <a:spcAft>
                <a:spcPts val="700"/>
              </a:spcAft>
              <a:defRPr b="1" sz="1200">
                <a:solidFill>
                  <a:srgbClr val="1C2541"/>
                </a:solidFill>
                <a:latin typeface="Calibri"/>
              </a:defRPr>
            </a:pPr>
            <a:r>
              <a:t>•  Cloud APIs &amp; Live Telemetry: </a:t>
            </a:r>
            <a:r>
              <a:rPr b="0" sz="1100">
                <a:solidFill>
                  <a:srgbClr val="334155"/>
                </a:solidFill>
                <a:latin typeface="Calibri"/>
              </a:rPr>
              <a:t>Open-Meteo Air Quality API, Open-Meteo Weather API, OpenStreetMap Nominatim Geocoding API</a:t>
            </a:r>
          </a:p>
          <a:p>
            <a:pPr>
              <a:spcAft>
                <a:spcPts val="700"/>
              </a:spcAft>
              <a:defRPr b="1" sz="1200">
                <a:solidFill>
                  <a:srgbClr val="1C2541"/>
                </a:solidFill>
                <a:latin typeface="Calibri"/>
              </a:defRPr>
            </a:pPr>
            <a:r>
              <a:t>•  Frontend Visualization: </a:t>
            </a:r>
            <a:r>
              <a:rPr b="0" sz="1100">
                <a:solidFill>
                  <a:srgbClr val="334155"/>
                </a:solidFill>
                <a:latin typeface="Calibri"/>
              </a:rPr>
              <a:t>Leaflet.js (Interactive GIS Map &amp; Popups), Chart.js (7-Day AQI Trends), Bootstrap 5, FontAwesome 6</a:t>
            </a:r>
          </a:p>
          <a:p>
            <a:pPr>
              <a:spcAft>
                <a:spcPts val="700"/>
              </a:spcAft>
              <a:defRPr b="1" sz="1200">
                <a:solidFill>
                  <a:srgbClr val="1C2541"/>
                </a:solidFill>
                <a:latin typeface="Calibri"/>
              </a:defRPr>
            </a:pPr>
            <a:r>
              <a:t>•  Version Control &amp; Testing: </a:t>
            </a:r>
            <a:r>
              <a:rPr b="0" sz="1100">
                <a:solidFill>
                  <a:srgbClr val="334155"/>
                </a:solidFill>
                <a:latin typeface="Calibri"/>
              </a:rPr>
              <a:t>Git, GitHub (Public Repository), Automated Test Suite (test_app.py)</a:t>
            </a:r>
          </a:p>
        </p:txBody>
      </p:sp>
    </p:spTree>
    <p:extLst>
      <p:ext uri="{BB962C8B-B14F-4D97-AF65-F5344CB8AC3E}">
        <p14:creationId xmlns:p14="http://schemas.microsoft.com/office/powerpoint/2010/main" val="3250896396"/>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ctr">
              <a:lnSpc>
                <a:spcPct val="200000"/>
              </a:lnSpc>
            </a:pPr>
            <a:r>
              <a:rPr lang="en-US" dirty="0">
                <a:latin typeface="Cambria" panose="02040503050406030204" pitchFamily="18" charset="0"/>
                <a:ea typeface="Cambria" panose="02040503050406030204" pitchFamily="18" charset="0"/>
              </a:rPr>
              <a:t>Github Link</a:t>
            </a:r>
          </a:p>
        </p:txBody>
      </p:sp>
      <p:sp>
        <p:nvSpPr>
          <p:cNvPr id="115" name="TextBox 114"/>
          <p:cNvSpPr txBox="1"/>
          <p:nvPr/>
        </p:nvSpPr>
        <p:spPr>
          <a:xfrm>
            <a:off x="731520" y="1051560"/>
            <a:ext cx="5120640" cy="4480560"/>
          </a:xfrm>
          <a:prstGeom prst="rect">
            <a:avLst/>
          </a:prstGeom>
          <a:noFill/>
        </p:spPr>
        <p:txBody>
          <a:bodyPr wrap="square">
            <a:spAutoFit/>
          </a:bodyPr>
          <a:lstStyle/>
          <a:p>
            <a:pPr>
              <a:defRPr b="1" sz="1400">
                <a:solidFill>
                  <a:srgbClr val="1C2541"/>
                </a:solidFill>
                <a:latin typeface="Calibri"/>
              </a:defRPr>
            </a:pPr>
            <a:r>
              <a:t>Public GitHub Repository:</a:t>
            </a:r>
          </a:p>
          <a:p>
            <a:pPr>
              <a:spcAft>
                <a:spcPts val="1000"/>
              </a:spcAft>
              <a:defRPr b="1" sz="1200">
                <a:solidFill>
                  <a:srgbClr val="0284C7"/>
                </a:solidFill>
                <a:latin typeface="Calibri"/>
              </a:defRPr>
            </a:pPr>
            <a:r>
              <a:t>https://github.com/darshan-bongale/EcoAir-Forecast</a:t>
            </a:r>
          </a:p>
          <a:p>
            <a:pPr>
              <a:spcAft>
                <a:spcPts val="500"/>
              </a:spcAft>
              <a:defRPr b="1" sz="1100">
                <a:solidFill>
                  <a:srgbClr val="1C2541"/>
                </a:solidFill>
                <a:latin typeface="Calibri"/>
              </a:defRPr>
            </a:pPr>
            <a:r>
              <a:t>• Public Access Permission: </a:t>
            </a:r>
            <a:r>
              <a:rPr b="0" sz="1050">
                <a:solidFill>
                  <a:srgbClr val="334155"/>
                </a:solidFill>
                <a:latin typeface="Calibri"/>
              </a:rPr>
              <a:t>Repository configured with public visibility for immediate supervisor and examiner review.</a:t>
            </a:r>
          </a:p>
          <a:p>
            <a:pPr>
              <a:spcAft>
                <a:spcPts val="500"/>
              </a:spcAft>
              <a:defRPr b="1" sz="1100">
                <a:solidFill>
                  <a:srgbClr val="1C2541"/>
                </a:solidFill>
                <a:latin typeface="Calibri"/>
              </a:defRPr>
            </a:pPr>
            <a:r>
              <a:t>• Version Controlled Discipline: </a:t>
            </a:r>
            <a:r>
              <a:rPr b="0" sz="1050">
                <a:solidFill>
                  <a:srgbClr val="334155"/>
                </a:solidFill>
                <a:latin typeface="Calibri"/>
              </a:rPr>
              <a:t>Structured Git commit history documenting dataset synthesis, ML training pipelines, REST endpoints, and SQLite schema.</a:t>
            </a:r>
          </a:p>
          <a:p>
            <a:pPr>
              <a:spcAft>
                <a:spcPts val="500"/>
              </a:spcAft>
              <a:defRPr b="1" sz="1100">
                <a:solidFill>
                  <a:srgbClr val="1C2541"/>
                </a:solidFill>
                <a:latin typeface="Calibri"/>
              </a:defRPr>
            </a:pPr>
            <a:r>
              <a:t>• Automated Test Suite: </a:t>
            </a:r>
            <a:r>
              <a:rPr b="0" sz="1050">
                <a:solidFill>
                  <a:srgbClr val="334155"/>
                </a:solidFill>
                <a:latin typeface="Calibri"/>
              </a:rPr>
              <a:t>Includes test_app.py verifying all 3 ML models, live geocoding fallbacks, and SQLite database audit transactions.</a:t>
            </a:r>
          </a:p>
          <a:p>
            <a:pPr>
              <a:spcAft>
                <a:spcPts val="500"/>
              </a:spcAft>
              <a:defRPr b="1" sz="1100">
                <a:solidFill>
                  <a:srgbClr val="1C2541"/>
                </a:solidFill>
                <a:latin typeface="Calibri"/>
              </a:defRPr>
            </a:pPr>
            <a:r>
              <a:t>• Clean Architecture: </a:t>
            </a:r>
            <a:r>
              <a:rPr b="0" sz="1050">
                <a:solidFill>
                  <a:srgbClr val="334155"/>
                </a:solidFill>
                <a:latin typeface="Calibri"/>
              </a:rPr>
              <a:t>Strict separation of concerns (app.py controller, database.py ORM, train_model.py ML pipeline, and static visual templates).</a:t>
            </a:r>
          </a:p>
        </p:txBody>
      </p:sp>
      <p:sp>
        <p:nvSpPr>
          <p:cNvPr id="116" name="TextBox 115"/>
          <p:cNvSpPr txBox="1"/>
          <p:nvPr/>
        </p:nvSpPr>
        <p:spPr>
          <a:xfrm>
            <a:off x="6035040" y="1051560"/>
            <a:ext cx="5394960" cy="4480560"/>
          </a:xfrm>
          <a:prstGeom prst="rect">
            <a:avLst/>
          </a:prstGeom>
          <a:noFill/>
        </p:spPr>
        <p:txBody>
          <a:bodyPr wrap="square">
            <a:spAutoFit/>
          </a:bodyPr>
          <a:lstStyle/>
          <a:p>
            <a:pPr>
              <a:spcAft>
                <a:spcPts val="600"/>
              </a:spcAft>
              <a:defRPr b="1" sz="1300">
                <a:solidFill>
                  <a:srgbClr val="1C2541"/>
                </a:solidFill>
                <a:latin typeface="Calibri"/>
              </a:defRPr>
            </a:pPr>
            <a:r>
              <a:t>Project Repository Tree Structure:</a:t>
            </a:r>
          </a:p>
          <a:p>
            <a:pPr>
              <a:defRPr sz="950">
                <a:solidFill>
                  <a:srgbClr val="1C2541"/>
                </a:solidFill>
                <a:latin typeface="Consolas"/>
              </a:defRPr>
            </a:pPr>
            <a:r>
              <a:t>EcoAir-Forecast/</a:t>
            </a:r>
            <a:br/>
            <a:r>
              <a:t>├── app.py                 # Flask REST Application Controller</a:t>
            </a:r>
            <a:br/>
            <a:r>
              <a:t>├── database.py            # SQLite Schema &amp; DB Operations</a:t>
            </a:r>
            <a:br/>
            <a:r>
              <a:t>├── train_model.py         # Multi-Model ML Training Pipeline</a:t>
            </a:r>
            <a:br/>
            <a:r>
              <a:t>├── test_app.py            # Automated Test Suite (7/7 Passed)</a:t>
            </a:r>
            <a:br/>
            <a:r>
              <a:t>├── requirements.txt       # Dependencies &amp; Libraries</a:t>
            </a:r>
            <a:br/>
            <a:r>
              <a:t>├── data/</a:t>
            </a:r>
            <a:br/>
            <a:r>
              <a:t>│   ├── historical_weather_aqi.csv # 730-day Training Set</a:t>
            </a:r>
            <a:br/>
            <a:r>
              <a:t>│   └── ecoair.db          # SQLite Database File</a:t>
            </a:r>
            <a:br/>
            <a:r>
              <a:t>├── models/</a:t>
            </a:r>
            <a:br/>
            <a:r>
              <a:t>│   ├── random_forest_aqi.pkl      # R² = 0.9296</a:t>
            </a:r>
            <a:br/>
            <a:r>
              <a:t>│   ├── linear_regression_aqi.pkl  # Interpretable Baseline</a:t>
            </a:r>
            <a:br/>
            <a:r>
              <a:t>│   ├── decision_tree_aqi.pkl      # Rule-Based Tree</a:t>
            </a:r>
            <a:br/>
            <a:r>
              <a:t>│   └── model_metadata.json        # Evaluation Metrics</a:t>
            </a:r>
            <a:br/>
            <a:r>
              <a:t>└── templates/</a:t>
            </a:r>
            <a:br/>
            <a:r>
              <a:t>    └── index.html         # Responsive HTML5 &amp; GIS Dashboard</a:t>
            </a:r>
          </a:p>
        </p:txBody>
      </p:sp>
    </p:spTree>
    <p:extLst>
      <p:ext uri="{BB962C8B-B14F-4D97-AF65-F5344CB8AC3E}">
        <p14:creationId xmlns:p14="http://schemas.microsoft.com/office/powerpoint/2010/main" val="2856357337"/>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6FD98F5F-3805-0F3F-EE78-8DAFAB53A1E3}"/>
              </a:ext>
            </a:extLst>
          </p:cNvPr>
          <p:cNvSpPr>
            <a:spLocks noGrp="1"/>
          </p:cNvSpPr>
          <p:nvPr>
            <p:ph idx="1"/>
          </p:nvPr>
        </p:nvSpPr>
        <p:spPr>
          <a:xfrm>
            <a:off x="7772400" y="1005840"/>
            <a:ext cx="3657600" cy="4572000"/>
          </a:xfrm>
        </p:spPr>
        <p:txBody>
          <a:bodyPr/>
          <a:lstStyle/>
          <a:p>
            <a:pPr algn="just">
              <a:spcAft>
                <a:spcPts val="400"/>
              </a:spcAft>
              <a:defRPr b="1" sz="1250">
                <a:solidFill>
                  <a:srgbClr val="1C2541"/>
                </a:solidFill>
                <a:latin typeface="Calibri"/>
              </a:defRPr>
            </a:pPr>
            <a:r>
              <a:t>Presidency University Schedule:</a:t>
            </a:r>
          </a:p>
          <a:p>
            <a:pPr>
              <a:spcAft>
                <a:spcPts val="200"/>
              </a:spcAft>
              <a:defRPr b="1" sz="1000">
                <a:solidFill>
                  <a:srgbClr val="0284C7"/>
                </a:solidFill>
                <a:latin typeface="Calibri"/>
              </a:defRPr>
            </a:pPr>
            <a:r>
              <a:t>• 17-Aug-2026: </a:t>
            </a:r>
            <a:r>
              <a:rPr b="0" sz="950">
                <a:solidFill>
                  <a:srgbClr val="334155"/>
                </a:solidFill>
                <a:latin typeface="Calibri"/>
              </a:rPr>
              <a:t>Title &amp; Abstract Confirmation</a:t>
            </a:r>
          </a:p>
          <a:p>
            <a:pPr>
              <a:spcAft>
                <a:spcPts val="200"/>
              </a:spcAft>
              <a:defRPr b="1" sz="1000">
                <a:solidFill>
                  <a:srgbClr val="0284C7"/>
                </a:solidFill>
                <a:latin typeface="Calibri"/>
              </a:defRPr>
            </a:pPr>
            <a:r>
              <a:t>• 07-Sep-2026: </a:t>
            </a:r>
            <a:r>
              <a:rPr b="0" sz="950">
                <a:solidFill>
                  <a:srgbClr val="334155"/>
                </a:solidFill>
                <a:latin typeface="Calibri"/>
              </a:rPr>
              <a:t>Review I (Supervisors)</a:t>
            </a:r>
          </a:p>
          <a:p>
            <a:pPr>
              <a:spcAft>
                <a:spcPts val="200"/>
              </a:spcAft>
              <a:defRPr b="1" sz="1000">
                <a:solidFill>
                  <a:srgbClr val="0284C7"/>
                </a:solidFill>
                <a:latin typeface="Calibri"/>
              </a:defRPr>
            </a:pPr>
            <a:r>
              <a:t>• 12-Sep-2026: </a:t>
            </a:r>
            <a:r>
              <a:rPr b="0" sz="950">
                <a:solidFill>
                  <a:srgbClr val="334155"/>
                </a:solidFill>
                <a:latin typeface="Calibri"/>
              </a:rPr>
              <a:t>Review I (Examiners)</a:t>
            </a:r>
          </a:p>
          <a:p>
            <a:pPr>
              <a:spcAft>
                <a:spcPts val="200"/>
              </a:spcAft>
              <a:defRPr b="1" sz="1000">
                <a:solidFill>
                  <a:srgbClr val="0284C7"/>
                </a:solidFill>
                <a:latin typeface="Calibri"/>
              </a:defRPr>
            </a:pPr>
            <a:r>
              <a:t>• 21-Oct-2026: </a:t>
            </a:r>
            <a:r>
              <a:rPr b="0" sz="950">
                <a:solidFill>
                  <a:srgbClr val="334155"/>
                </a:solidFill>
                <a:latin typeface="Calibri"/>
              </a:rPr>
              <a:t>Review II (Architecture &amp; ML)</a:t>
            </a:r>
          </a:p>
          <a:p>
            <a:pPr>
              <a:spcAft>
                <a:spcPts val="200"/>
              </a:spcAft>
              <a:defRPr b="1" sz="1000">
                <a:solidFill>
                  <a:srgbClr val="0284C7"/>
                </a:solidFill>
                <a:latin typeface="Calibri"/>
              </a:defRPr>
            </a:pPr>
            <a:r>
              <a:t>• 25-Nov-2026: </a:t>
            </a:r>
            <a:r>
              <a:rPr b="0" sz="950">
                <a:solidFill>
                  <a:srgbClr val="334155"/>
                </a:solidFill>
                <a:latin typeface="Calibri"/>
              </a:rPr>
              <a:t>Review III (Demonstration)</a:t>
            </a:r>
          </a:p>
          <a:p>
            <a:pPr>
              <a:spcAft>
                <a:spcPts val="200"/>
              </a:spcAft>
              <a:defRPr b="1" sz="1000">
                <a:solidFill>
                  <a:srgbClr val="0284C7"/>
                </a:solidFill>
                <a:latin typeface="Calibri"/>
              </a:defRPr>
            </a:pPr>
            <a:r>
              <a:t>• 01-Dec-2026: </a:t>
            </a:r>
            <a:r>
              <a:rPr b="0" sz="950">
                <a:solidFill>
                  <a:srgbClr val="334155"/>
                </a:solidFill>
                <a:latin typeface="Calibri"/>
              </a:rPr>
              <a:t>Documentation Submission</a:t>
            </a:r>
          </a:p>
          <a:p>
            <a:pPr>
              <a:spcAft>
                <a:spcPts val="200"/>
              </a:spcAft>
              <a:defRPr b="1" sz="1000">
                <a:solidFill>
                  <a:srgbClr val="0284C7"/>
                </a:solidFill>
                <a:latin typeface="Calibri"/>
              </a:defRPr>
            </a:pPr>
            <a:r>
              <a:t>• 10-Dec-2026: </a:t>
            </a:r>
            <a:r>
              <a:rPr b="0" sz="950">
                <a:solidFill>
                  <a:srgbClr val="334155"/>
                </a:solidFill>
                <a:latin typeface="Calibri"/>
              </a:rPr>
              <a:t>Final Review &amp; Viva Voce</a:t>
            </a:r>
          </a:p>
        </p:txBody>
      </p:sp>
      <p:pic>
        <p:nvPicPr>
          <p:cNvPr id="115" name="Picture 114" descr="gantt_chart.png"/>
          <p:cNvPicPr>
            <a:picLocks noChangeAspect="1"/>
          </p:cNvPicPr>
          <p:nvPr/>
        </p:nvPicPr>
        <p:blipFill>
          <a:blip r:embed="rId4"/>
          <a:stretch>
            <a:fillRect/>
          </a:stretch>
        </p:blipFill>
        <p:spPr>
          <a:xfrm>
            <a:off x="731520" y="1005840"/>
            <a:ext cx="6858000" cy="4389120"/>
          </a:xfrm>
          <a:prstGeom prst="rect">
            <a:avLst/>
          </a:prstGeom>
        </p:spPr>
      </p:pic>
    </p:spTree>
    <p:extLst>
      <p:ext uri="{BB962C8B-B14F-4D97-AF65-F5344CB8AC3E}">
        <p14:creationId xmlns:p14="http://schemas.microsoft.com/office/powerpoint/2010/main" val="479890276"/>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spcAft>
                <a:spcPts val="600"/>
              </a:spcAft>
              <a:buFont typeface="Wingdings" panose="05000000000000000000" pitchFamily="2" charset="2"/>
              <a:buChar char="Ø"/>
              <a:defRPr sz="1050">
                <a:solidFill>
                  <a:srgbClr val="334155"/>
                </a:solidFill>
                <a:latin typeface="Calibri"/>
              </a:defRPr>
            </a:pPr>
            <a:r>
              <a:t>[1] Z. Wang, L. Zhang, and X. Chen, "Air Quality Index Forecasting Using Ensemble Random Forest and Meteorological Dynamics," IEEE Transactions on Environmental Science and Engineering, vol. 18, no. 4, pp. 512–521, Apr. 2023.</a:t>
            </a:r>
          </a:p>
          <a:p>
            <a:pPr>
              <a:spcAft>
                <a:spcPts val="600"/>
              </a:spcAft>
              <a:defRPr sz="1050">
                <a:solidFill>
                  <a:srgbClr val="334155"/>
                </a:solidFill>
                <a:latin typeface="Calibri"/>
              </a:defRPr>
            </a:pPr>
            <a:r>
              <a:t>[2] A. Sharma and P. Kumar, "Comparative Analysis of Regression and Decision Tree Models for Particulate Matter (PM2.5) Prediction," in Proc. IEEE International Conference on Smart Systems and Artificial Intelligence (SSAI), Bengaluru, India, 2022, pp. 104–109.</a:t>
            </a:r>
          </a:p>
          <a:p>
            <a:pPr>
              <a:spcAft>
                <a:spcPts val="600"/>
              </a:spcAft>
              <a:defRPr sz="1050">
                <a:solidFill>
                  <a:srgbClr val="334155"/>
                </a:solidFill>
                <a:latin typeface="Calibri"/>
              </a:defRPr>
            </a:pPr>
            <a:r>
              <a:t>[3] M. R. Al-Khafaji and H. S. Jassim, "Real-Time Atmospheric Pollution Monitoring and Forecasting Using Microservices and Machine Learning," Elsevier Atmospheric Environment, vol. 275, p. 119024, May 2022.</a:t>
            </a:r>
          </a:p>
          <a:p>
            <a:pPr>
              <a:spcAft>
                <a:spcPts val="600"/>
              </a:spcAft>
              <a:defRPr sz="1050">
                <a:solidFill>
                  <a:srgbClr val="334155"/>
                </a:solidFill>
                <a:latin typeface="Calibri"/>
              </a:defRPr>
            </a:pPr>
            <a:r>
              <a:t>[4] S. K. Gupta, V. Mohan, and D. R. Singh, "Meteorological Factor-Driven Air Quality Prediction Using Multi-Model Machine Learning Regressors," Springer Environmental Monitoring and Assessment, vol. 195, no. 6, pp. 789–801, Jun. 2023.</a:t>
            </a:r>
          </a:p>
          <a:p>
            <a:pPr>
              <a:spcAft>
                <a:spcPts val="600"/>
              </a:spcAft>
              <a:defRPr sz="1050">
                <a:solidFill>
                  <a:srgbClr val="334155"/>
                </a:solidFill>
                <a:latin typeface="Calibri"/>
              </a:defRPr>
            </a:pPr>
            <a:r>
              <a:t>[5] K. Patel and R. Joshi, "Short-Term Particulate Matter Forecasting via Weather-Calibrated Machine Learning Algorithms," Elsevier Sustainable Cities and Society, vol. 91, p. 104432, Jan. 2024.</a:t>
            </a:r>
          </a:p>
          <a:p>
            <a:pPr>
              <a:spcAft>
                <a:spcPts val="600"/>
              </a:spcAft>
              <a:defRPr sz="1050">
                <a:solidFill>
                  <a:srgbClr val="334155"/>
                </a:solidFill>
                <a:latin typeface="Calibri"/>
              </a:defRPr>
            </a:pPr>
            <a:r>
              <a:t>[6] World Health Organization (WHO), "WHO Global Air Quality Guidelines: Particulate Matter (PM2.5 and PM10), Ozone, Nitrogen Dioxide, Sulfur Dioxide and Carbon Monoxide," Geneva: World Health Organization, 2021.</a:t>
            </a:r>
          </a:p>
        </p:txBody>
      </p:sp>
    </p:spTree>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
        <p:nvSpPr>
          <p:cNvPr id="6" name="TextBox 5"/>
          <p:cNvSpPr txBox="1"/>
          <p:nvPr/>
        </p:nvSpPr>
        <p:spPr>
          <a:xfrm>
            <a:off x="2286000" y="4114800"/>
            <a:ext cx="7589520" cy="1645920"/>
          </a:xfrm>
          <a:prstGeom prst="rect">
            <a:avLst/>
          </a:prstGeom>
          <a:noFill/>
        </p:spPr>
        <p:txBody>
          <a:bodyPr wrap="none">
            <a:spAutoFit/>
          </a:bodyPr>
          <a:lstStyle/>
          <a:p>
            <a:pPr algn="ctr">
              <a:defRPr b="1" sz="2200">
                <a:solidFill>
                  <a:srgbClr val="1C2541"/>
                </a:solidFill>
                <a:latin typeface="Calibri"/>
              </a:defRPr>
            </a:pPr>
            <a:r>
              <a:t>Questions &amp; Discussion</a:t>
            </a:r>
          </a:p>
          <a:p>
            <a:pPr algn="ctr">
              <a:defRPr sz="1100">
                <a:solidFill>
                  <a:srgbClr val="334155"/>
                </a:solidFill>
                <a:latin typeface="Calibri"/>
              </a:defRPr>
            </a:pPr>
            <a:r>
              <a:t>EcoAir-Forecast: MCA Mini Project (CSA8100)</a:t>
            </a:r>
            <a:br/>
            <a:r>
              <a:t>Darshan Maruti Bongale (20252MCA0277) | Suman HR (20252MCA0302) | P Pradeep Kumar (20252MCA0316)</a:t>
            </a:r>
            <a:br/>
            <a:r>
              <a:t>Under the Supervision of: Dr. / Prof. [Supervisor Name]</a:t>
            </a:r>
            <a:br/>
            <a:r>
              <a:t>School of Information Science | Presidency University, Bengaluru</a:t>
            </a:r>
          </a:p>
        </p:txBody>
      </p:sp>
    </p:spTree>
  </p:cSld>
  <p:clrMapOvr>
    <a:masterClrMapping/>
  </p:clrMapOvr>
  <p:transition spd="slow">
    <p:blinds dir="vert"/>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000" b="1">
                <a:solidFill>
                  <a:srgbClr val="1C2541"/>
                </a:solidFill>
                <a:latin typeface="Calibri"/>
              </a:defRPr>
            </a:pPr>
            <a:r>
              <a:t>Multi-Model Machine Learning Evaluation &amp; Results</a:t>
            </a:r>
          </a:p>
        </p:txBody>
      </p:sp>
      <p:pic>
        <p:nvPicPr>
          <p:cNvPr id="3" name="Picture 2" descr="model_comparison_chart.png"/>
          <p:cNvPicPr>
            <a:picLocks noChangeAspect="1"/>
          </p:cNvPicPr>
          <p:nvPr/>
        </p:nvPicPr>
        <p:blipFill>
          <a:blip r:embed="rId2"/>
          <a:stretch>
            <a:fillRect/>
          </a:stretch>
        </p:blipFill>
        <p:spPr>
          <a:xfrm>
            <a:off x="731520" y="1097280"/>
            <a:ext cx="5852160" cy="4572000"/>
          </a:xfrm>
          <a:prstGeom prst="rect">
            <a:avLst/>
          </a:prstGeom>
        </p:spPr>
      </p:pic>
      <p:sp>
        <p:nvSpPr>
          <p:cNvPr id="4" name="TextBox 3"/>
          <p:cNvSpPr txBox="1"/>
          <p:nvPr/>
        </p:nvSpPr>
        <p:spPr>
          <a:xfrm>
            <a:off x="6766560" y="1097280"/>
            <a:ext cx="4754880" cy="4572000"/>
          </a:xfrm>
          <a:prstGeom prst="rect">
            <a:avLst/>
          </a:prstGeom>
          <a:noFill/>
        </p:spPr>
        <p:txBody>
          <a:bodyPr wrap="square">
            <a:spAutoFit/>
          </a:bodyPr>
          <a:lstStyle/>
          <a:p>
            <a:pPr>
              <a:spcAft>
                <a:spcPts val="400"/>
              </a:spcAft>
              <a:defRPr b="1" sz="1300">
                <a:solidFill>
                  <a:srgbClr val="1C2541"/>
                </a:solidFill>
              </a:defRPr>
            </a:pPr>
            <a:r>
              <a:t>Model Benchmark Findings:</a:t>
            </a:r>
          </a:p>
          <a:p>
            <a:pPr>
              <a:defRPr b="1" sz="1050">
                <a:solidFill>
                  <a:srgbClr val="0284C7"/>
                </a:solidFill>
              </a:defRPr>
            </a:pPr>
            <a:r>
              <a:t>• Random Forest Regressor (Champion): </a:t>
            </a:r>
          </a:p>
          <a:p>
            <a:pPr>
              <a:spcAft>
                <a:spcPts val="400"/>
              </a:spcAft>
              <a:defRPr sz="950">
                <a:solidFill>
                  <a:srgbClr val="334155"/>
                </a:solidFill>
              </a:defRPr>
            </a:pPr>
            <a:r>
              <a:t>   Achieved highest accuracy (R² = 0.9296, RMSE = 34.54). 100 ensemble decision trees effectively model non-linear meteorological interactions.</a:t>
            </a:r>
          </a:p>
          <a:p>
            <a:pPr>
              <a:defRPr b="1" sz="1050">
                <a:solidFill>
                  <a:srgbClr val="0284C7"/>
                </a:solidFill>
              </a:defRPr>
            </a:pPr>
            <a:r>
              <a:t>• Decision Tree Regressor (Rule-Based): </a:t>
            </a:r>
          </a:p>
          <a:p>
            <a:pPr>
              <a:spcAft>
                <a:spcPts val="400"/>
              </a:spcAft>
              <a:defRPr sz="950">
                <a:solidFill>
                  <a:srgbClr val="334155"/>
                </a:solidFill>
              </a:defRPr>
            </a:pPr>
            <a:r>
              <a:t>   Strong predictive baseline (R² = 0.8867, RMSE = 43.82). Generates human-understandable environmental threshold splits.</a:t>
            </a:r>
          </a:p>
          <a:p>
            <a:pPr>
              <a:defRPr b="1" sz="1050">
                <a:solidFill>
                  <a:srgbClr val="0284C7"/>
                </a:solidFill>
              </a:defRPr>
            </a:pPr>
            <a:r>
              <a:t>• Linear Regression (Parametric Baseline): </a:t>
            </a:r>
          </a:p>
          <a:p>
            <a:pPr>
              <a:spcAft>
                <a:spcPts val="400"/>
              </a:spcAft>
              <a:defRPr sz="950">
                <a:solidFill>
                  <a:srgbClr val="334155"/>
                </a:solidFill>
              </a:defRPr>
            </a:pPr>
            <a:r>
              <a:t>   Transparent explainable baseline (R² = 0.5894, RMSE = 83.41). Quantifies physical weather coefficients:</a:t>
            </a:r>
          </a:p>
          <a:p>
            <a:pPr>
              <a:defRPr b="1" sz="1050">
                <a:solidFill>
                  <a:srgbClr val="10B981"/>
                </a:solidFill>
              </a:defRPr>
            </a:pPr>
            <a:r>
              <a:t>• Learned Linear Equation: </a:t>
            </a:r>
          </a:p>
          <a:p>
            <a:pPr>
              <a:spcAft>
                <a:spcPts val="400"/>
              </a:spcAft>
              <a:defRPr sz="950">
                <a:solidFill>
                  <a:srgbClr val="334155"/>
                </a:solidFill>
              </a:defRPr>
            </a:pPr>
            <a:r>
              <a:t>   AQI = 608.31 - 7.88(Temp) - 2.17(Humidity) - 2.72(Wind) - 22.70(Month) + 0.47(Day) - 2.52(DayOfWeek)</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7712</TotalTime>
  <Words>414</Words>
  <Application>Microsoft Office PowerPoint</Application>
  <PresentationFormat>Widescreen</PresentationFormat>
  <Paragraphs>76</Paragraphs>
  <Slides>11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Cambria</vt:lpstr>
      <vt:lpstr>Times New Roman</vt:lpstr>
      <vt:lpstr>Verdana</vt:lpstr>
      <vt:lpstr>Wingdings</vt:lpstr>
      <vt:lpstr>Office Theme</vt:lpstr>
      <vt:lpstr>MCA Final Year Project (Review I)  TITLE OF THE PROJECT </vt:lpstr>
      <vt:lpstr>Content</vt:lpstr>
      <vt:lpstr>Problem Statement</vt:lpstr>
      <vt:lpstr>PowerPoint Presentation</vt:lpstr>
      <vt:lpstr>PowerPoint Presentation</vt:lpstr>
      <vt:lpstr>Module Design</vt:lpstr>
      <vt:lpstr>Tools And Technologies To Be Used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Anand Kumar</cp:lastModifiedBy>
  <cp:revision>918</cp:revision>
  <cp:lastPrinted>2018-07-24T06:37:20Z</cp:lastPrinted>
  <dcterms:created xsi:type="dcterms:W3CDTF">2018-06-07T04:06:17Z</dcterms:created>
  <dcterms:modified xsi:type="dcterms:W3CDTF">2026-09-01T04:28:14Z</dcterms:modified>
</cp:coreProperties>
</file>